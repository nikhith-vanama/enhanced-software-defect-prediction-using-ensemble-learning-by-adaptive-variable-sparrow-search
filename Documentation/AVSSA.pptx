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png" ContentType="image/pn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7337"/>
            <a:ext cx="173164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7E10FF"/>
                </a:solidFill>
                <a:latin typeface="Arial"/>
                <a:cs typeface="Arial"/>
              </a:defRPr>
            </a:lvl1pPr>
          </a:lstStyle>
          <a:p>
            <a:pPr marL="46990">
              <a:lnSpc>
                <a:spcPts val="1075"/>
              </a:lnSpc>
            </a:pPr>
            <a:fld id="{81D60167-4931-47E6-BA6A-407CBD079E47}" type="slidenum">
              <a:rPr dirty="0" spc="40"/>
              <a:t>#</a:t>
            </a:fld>
            <a:r>
              <a:rPr dirty="0" spc="40"/>
              <a:t>/18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7E10FF"/>
                </a:solidFill>
                <a:latin typeface="Arial"/>
                <a:cs typeface="Arial"/>
              </a:defRPr>
            </a:lvl1pPr>
          </a:lstStyle>
          <a:p>
            <a:pPr marL="46990">
              <a:lnSpc>
                <a:spcPts val="1075"/>
              </a:lnSpc>
            </a:pPr>
            <a:fld id="{81D60167-4931-47E6-BA6A-407CBD079E47}" type="slidenum">
              <a:rPr dirty="0" spc="40"/>
              <a:t>#</a:t>
            </a:fld>
            <a:r>
              <a:rPr dirty="0" spc="40"/>
              <a:t>/18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7E10FF"/>
                </a:solidFill>
                <a:latin typeface="Arial"/>
                <a:cs typeface="Arial"/>
              </a:defRPr>
            </a:lvl1pPr>
          </a:lstStyle>
          <a:p>
            <a:pPr marL="46990">
              <a:lnSpc>
                <a:spcPts val="1075"/>
              </a:lnSpc>
            </a:pPr>
            <a:fld id="{81D60167-4931-47E6-BA6A-407CBD079E47}" type="slidenum">
              <a:rPr dirty="0" spc="40"/>
              <a:t>#</a:t>
            </a:fld>
            <a:r>
              <a:rPr dirty="0" spc="40"/>
              <a:t>/18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7E10FF"/>
                </a:solidFill>
                <a:latin typeface="Arial"/>
                <a:cs typeface="Arial"/>
              </a:defRPr>
            </a:lvl1pPr>
          </a:lstStyle>
          <a:p>
            <a:pPr marL="46990">
              <a:lnSpc>
                <a:spcPts val="1075"/>
              </a:lnSpc>
            </a:pPr>
            <a:fld id="{81D60167-4931-47E6-BA6A-407CBD079E47}" type="slidenum">
              <a:rPr dirty="0" spc="40"/>
              <a:t>#</a:t>
            </a:fld>
            <a:r>
              <a:rPr dirty="0" spc="40"/>
              <a:t>/18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96" cy="3239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3033" y="189614"/>
            <a:ext cx="1213849" cy="129514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7E10FF"/>
                </a:solidFill>
                <a:latin typeface="Arial"/>
                <a:cs typeface="Arial"/>
              </a:defRPr>
            </a:lvl1pPr>
          </a:lstStyle>
          <a:p>
            <a:pPr marL="46990">
              <a:lnSpc>
                <a:spcPts val="1075"/>
              </a:lnSpc>
            </a:pPr>
            <a:fld id="{81D60167-4931-47E6-BA6A-407CBD079E47}" type="slidenum">
              <a:rPr dirty="0" spc="40"/>
              <a:t>#</a:t>
            </a:fld>
            <a:r>
              <a:rPr dirty="0" spc="40"/>
              <a:t>/18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45440"/>
          </a:xfrm>
          <a:custGeom>
            <a:avLst/>
            <a:gdLst/>
            <a:ahLst/>
            <a:cxnLst/>
            <a:rect l="l" t="t" r="r" b="b"/>
            <a:pathLst>
              <a:path w="5760085" h="345440">
                <a:moveTo>
                  <a:pt x="5759996" y="0"/>
                </a:moveTo>
                <a:lnTo>
                  <a:pt x="0" y="0"/>
                </a:lnTo>
                <a:lnTo>
                  <a:pt x="0" y="345058"/>
                </a:lnTo>
                <a:lnTo>
                  <a:pt x="5759996" y="345058"/>
                </a:lnTo>
                <a:lnTo>
                  <a:pt x="5759996" y="0"/>
                </a:lnTo>
                <a:close/>
              </a:path>
            </a:pathLst>
          </a:custGeom>
          <a:solidFill>
            <a:srgbClr val="7E1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7337"/>
            <a:ext cx="227647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8068" y="592695"/>
            <a:ext cx="4969662" cy="2160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285308" y="3069973"/>
            <a:ext cx="373379" cy="156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7E10FF"/>
                </a:solidFill>
                <a:latin typeface="Arial"/>
                <a:cs typeface="Arial"/>
              </a:defRPr>
            </a:lvl1pPr>
          </a:lstStyle>
          <a:p>
            <a:pPr marL="46990">
              <a:lnSpc>
                <a:spcPts val="1075"/>
              </a:lnSpc>
            </a:pPr>
            <a:fld id="{81D60167-4931-47E6-BA6A-407CBD079E47}" type="slidenum">
              <a:rPr dirty="0" spc="40"/>
              <a:t>#</a:t>
            </a:fld>
            <a:r>
              <a:rPr dirty="0" spc="40"/>
              <a:t>/18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91642" y="1659099"/>
            <a:ext cx="4776470" cy="154559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ctr" marL="12065" marR="5080" indent="-635">
              <a:lnSpc>
                <a:spcPct val="106700"/>
              </a:lnSpc>
              <a:spcBef>
                <a:spcPts val="20"/>
              </a:spcBef>
            </a:pPr>
            <a:r>
              <a:rPr dirty="0" sz="1400" spc="-35" b="1">
                <a:solidFill>
                  <a:srgbClr val="FFFFFF"/>
                </a:solidFill>
                <a:latin typeface="Arial"/>
                <a:cs typeface="Arial"/>
              </a:rPr>
              <a:t>Enhanced</a:t>
            </a:r>
            <a:r>
              <a:rPr dirty="0" sz="14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dirty="0" sz="14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Defect</a:t>
            </a:r>
            <a:r>
              <a:rPr dirty="0" sz="1400" spc="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Prediction</a:t>
            </a:r>
            <a:r>
              <a:rPr dirty="0" sz="14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dirty="0" sz="1400" spc="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Ensemble </a:t>
            </a:r>
            <a:r>
              <a:rPr dirty="0" sz="1400" spc="-30" b="1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r>
              <a:rPr dirty="0" sz="14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4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Adaptive</a:t>
            </a:r>
            <a:r>
              <a:rPr dirty="0" sz="14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r>
              <a:rPr dirty="0" sz="14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30" b="1">
                <a:solidFill>
                  <a:srgbClr val="FFFFFF"/>
                </a:solidFill>
                <a:latin typeface="Arial"/>
                <a:cs typeface="Arial"/>
              </a:rPr>
              <a:t>Sparrow</a:t>
            </a:r>
            <a:r>
              <a:rPr dirty="0" sz="14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35" b="1">
                <a:solidFill>
                  <a:srgbClr val="FFFFFF"/>
                </a:solidFill>
                <a:latin typeface="Arial"/>
                <a:cs typeface="Arial"/>
              </a:rPr>
              <a:t>Search</a:t>
            </a:r>
            <a:r>
              <a:rPr dirty="0" sz="14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Algorithm</a:t>
            </a:r>
            <a:endParaRPr sz="1400">
              <a:latin typeface="Arial"/>
              <a:cs typeface="Arial"/>
            </a:endParaRPr>
          </a:p>
          <a:p>
            <a:pPr algn="ctr" marL="1917064" marR="1908810">
              <a:lnSpc>
                <a:spcPct val="187100"/>
              </a:lnSpc>
              <a:spcBef>
                <a:spcPts val="1055"/>
              </a:spcBef>
            </a:pP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Vanama 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Nikhith 23VV1F0027</a:t>
            </a:r>
            <a:endParaRPr sz="1100">
              <a:latin typeface="Tahoma"/>
              <a:cs typeface="Tahoma"/>
            </a:endParaRPr>
          </a:p>
          <a:p>
            <a:pPr algn="ctr" marL="635">
              <a:lnSpc>
                <a:spcPct val="100000"/>
              </a:lnSpc>
              <a:spcBef>
                <a:spcPts val="1150"/>
              </a:spcBef>
            </a:pPr>
            <a:r>
              <a:rPr dirty="0" sz="1100" spc="-45">
                <a:solidFill>
                  <a:srgbClr val="FFFFFF"/>
                </a:solidFill>
                <a:latin typeface="Tahoma"/>
                <a:cs typeface="Tahoma"/>
              </a:rPr>
              <a:t>September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3,</a:t>
            </a:r>
            <a:r>
              <a:rPr dirty="0" sz="110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</a:t>
            </a:r>
            <a:r>
              <a:rPr dirty="0" spc="-35"/>
              <a:t> </a:t>
            </a:r>
            <a:r>
              <a:rPr dirty="0" spc="-10"/>
              <a:t>Statement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6990">
              <a:lnSpc>
                <a:spcPts val="1075"/>
              </a:lnSpc>
            </a:pPr>
            <a:fld id="{81D60167-4931-47E6-BA6A-407CBD079E47}" type="slidenum">
              <a:rPr dirty="0" spc="40"/>
              <a:t>2</a:t>
            </a:fld>
            <a:r>
              <a:rPr dirty="0" spc="40"/>
              <a:t>/18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37490" marR="55880" indent="-137795">
              <a:lnSpc>
                <a:spcPct val="102600"/>
              </a:lnSpc>
              <a:spcBef>
                <a:spcPts val="55"/>
              </a:spcBef>
              <a:buClr>
                <a:srgbClr val="7E10FF"/>
              </a:buClr>
              <a:buFont typeface="Verdana"/>
              <a:buChar char="•"/>
              <a:tabLst>
                <a:tab pos="238760" algn="l"/>
              </a:tabLst>
            </a:pPr>
            <a:r>
              <a:rPr dirty="0" sz="1100" spc="-45"/>
              <a:t>Software</a:t>
            </a:r>
            <a:r>
              <a:rPr dirty="0" sz="1100" spc="-40"/>
              <a:t> </a:t>
            </a:r>
            <a:r>
              <a:rPr dirty="0" sz="1100" spc="-35"/>
              <a:t>defect</a:t>
            </a:r>
            <a:r>
              <a:rPr dirty="0" sz="1100" spc="-30"/>
              <a:t> </a:t>
            </a:r>
            <a:r>
              <a:rPr dirty="0" sz="1100" spc="-35"/>
              <a:t>prediction</a:t>
            </a:r>
            <a:r>
              <a:rPr dirty="0" sz="1100" spc="-25"/>
              <a:t> </a:t>
            </a:r>
            <a:r>
              <a:rPr dirty="0" sz="1100" spc="-40"/>
              <a:t>plays</a:t>
            </a:r>
            <a:r>
              <a:rPr dirty="0" sz="1100" spc="-35"/>
              <a:t> </a:t>
            </a:r>
            <a:r>
              <a:rPr dirty="0" sz="1100"/>
              <a:t>a</a:t>
            </a:r>
            <a:r>
              <a:rPr dirty="0" sz="1100" spc="-25"/>
              <a:t> </a:t>
            </a:r>
            <a:r>
              <a:rPr dirty="0" sz="1100" spc="-20"/>
              <a:t>crucial</a:t>
            </a:r>
            <a:r>
              <a:rPr dirty="0" sz="1100" spc="-25"/>
              <a:t> </a:t>
            </a:r>
            <a:r>
              <a:rPr dirty="0" sz="1100" spc="-20"/>
              <a:t>role</a:t>
            </a:r>
            <a:r>
              <a:rPr dirty="0" sz="1100" spc="-25"/>
              <a:t> </a:t>
            </a:r>
            <a:r>
              <a:rPr dirty="0" sz="1100"/>
              <a:t>in</a:t>
            </a:r>
            <a:r>
              <a:rPr dirty="0" sz="1100" spc="-30"/>
              <a:t> </a:t>
            </a:r>
            <a:r>
              <a:rPr dirty="0" sz="1100" spc="-40"/>
              <a:t>improving</a:t>
            </a:r>
            <a:r>
              <a:rPr dirty="0" sz="1100" spc="-30"/>
              <a:t> </a:t>
            </a:r>
            <a:r>
              <a:rPr dirty="0" sz="1100" spc="-55"/>
              <a:t>software</a:t>
            </a:r>
            <a:r>
              <a:rPr dirty="0" sz="1100" spc="-25"/>
              <a:t> </a:t>
            </a:r>
            <a:r>
              <a:rPr dirty="0" sz="1100" spc="-20"/>
              <a:t>quality</a:t>
            </a:r>
            <a:r>
              <a:rPr dirty="0" sz="1100" spc="-30"/>
              <a:t> </a:t>
            </a:r>
            <a:r>
              <a:rPr dirty="0" sz="1100" spc="-25"/>
              <a:t>and </a:t>
            </a:r>
            <a:r>
              <a:rPr dirty="0" sz="1100" spc="-25"/>
              <a:t>	</a:t>
            </a:r>
            <a:r>
              <a:rPr dirty="0" sz="1100" spc="-40"/>
              <a:t>reducing </a:t>
            </a:r>
            <a:r>
              <a:rPr dirty="0" sz="1100" spc="-45"/>
              <a:t>maintenance</a:t>
            </a:r>
            <a:r>
              <a:rPr dirty="0" sz="1100" spc="-30"/>
              <a:t> </a:t>
            </a:r>
            <a:r>
              <a:rPr dirty="0" sz="1100" spc="-20"/>
              <a:t>costs.</a:t>
            </a:r>
            <a:r>
              <a:rPr dirty="0" sz="1100" spc="70"/>
              <a:t> </a:t>
            </a:r>
            <a:r>
              <a:rPr dirty="0" sz="1100" spc="-50"/>
              <a:t>However,</a:t>
            </a:r>
            <a:r>
              <a:rPr dirty="0" sz="1100" spc="-30"/>
              <a:t> </a:t>
            </a:r>
            <a:r>
              <a:rPr dirty="0" sz="1100" spc="-10"/>
              <a:t>traditional</a:t>
            </a:r>
            <a:r>
              <a:rPr dirty="0" sz="1100" spc="-30"/>
              <a:t> </a:t>
            </a:r>
            <a:r>
              <a:rPr dirty="0" sz="1100" spc="-40"/>
              <a:t>machine</a:t>
            </a:r>
            <a:r>
              <a:rPr dirty="0" sz="1100" spc="-35"/>
              <a:t> </a:t>
            </a:r>
            <a:r>
              <a:rPr dirty="0" sz="1100" spc="-40"/>
              <a:t>learning</a:t>
            </a:r>
            <a:r>
              <a:rPr dirty="0" sz="1100" spc="-35"/>
              <a:t> </a:t>
            </a:r>
            <a:r>
              <a:rPr dirty="0" sz="1100" spc="-50"/>
              <a:t>models</a:t>
            </a:r>
            <a:r>
              <a:rPr dirty="0" sz="1100" spc="-35"/>
              <a:t> </a:t>
            </a:r>
            <a:r>
              <a:rPr dirty="0" sz="1100" spc="-25"/>
              <a:t>often </a:t>
            </a:r>
            <a:r>
              <a:rPr dirty="0" sz="1100" spc="-25"/>
              <a:t>	</a:t>
            </a:r>
            <a:r>
              <a:rPr dirty="0" sz="1100" spc="-40"/>
              <a:t>suffer</a:t>
            </a:r>
            <a:r>
              <a:rPr dirty="0" sz="1100" spc="-50"/>
              <a:t> </a:t>
            </a:r>
            <a:r>
              <a:rPr dirty="0" sz="1100" spc="-20"/>
              <a:t>from</a:t>
            </a:r>
            <a:r>
              <a:rPr dirty="0" sz="1100" spc="-40"/>
              <a:t> </a:t>
            </a:r>
            <a:r>
              <a:rPr dirty="0" sz="1100" spc="-10"/>
              <a:t>limited</a:t>
            </a:r>
            <a:r>
              <a:rPr dirty="0" sz="1100" spc="-40"/>
              <a:t> </a:t>
            </a:r>
            <a:r>
              <a:rPr dirty="0" sz="1100" spc="-35"/>
              <a:t>accuracy</a:t>
            </a:r>
            <a:r>
              <a:rPr dirty="0" sz="1100" spc="-45"/>
              <a:t> </a:t>
            </a:r>
            <a:r>
              <a:rPr dirty="0" sz="1100" spc="-50"/>
              <a:t>due</a:t>
            </a:r>
            <a:r>
              <a:rPr dirty="0" sz="1100" spc="-40"/>
              <a:t> </a:t>
            </a:r>
            <a:r>
              <a:rPr dirty="0" sz="1100"/>
              <a:t>to</a:t>
            </a:r>
            <a:r>
              <a:rPr dirty="0" sz="1100" spc="-45"/>
              <a:t> </a:t>
            </a:r>
            <a:r>
              <a:rPr dirty="0" sz="1100" spc="-10"/>
              <a:t>the</a:t>
            </a:r>
            <a:r>
              <a:rPr dirty="0" sz="1100" spc="-40"/>
              <a:t> imbalanced</a:t>
            </a:r>
            <a:r>
              <a:rPr dirty="0" sz="1100" spc="-45"/>
              <a:t> </a:t>
            </a:r>
            <a:r>
              <a:rPr dirty="0" sz="1100" spc="-35"/>
              <a:t>and</a:t>
            </a:r>
            <a:r>
              <a:rPr dirty="0" sz="1100" spc="-40"/>
              <a:t> noisy</a:t>
            </a:r>
            <a:r>
              <a:rPr dirty="0" sz="1100" spc="-45"/>
              <a:t> </a:t>
            </a:r>
            <a:r>
              <a:rPr dirty="0" sz="1100" spc="-30"/>
              <a:t>nature</a:t>
            </a:r>
            <a:r>
              <a:rPr dirty="0" sz="1100" spc="-40"/>
              <a:t> </a:t>
            </a:r>
            <a:r>
              <a:rPr dirty="0" sz="1100"/>
              <a:t>of</a:t>
            </a:r>
            <a:r>
              <a:rPr dirty="0" sz="1100" spc="-45"/>
              <a:t> </a:t>
            </a:r>
            <a:r>
              <a:rPr dirty="0" sz="1100" spc="-25"/>
              <a:t>software </a:t>
            </a:r>
            <a:r>
              <a:rPr dirty="0" sz="1100" spc="-25"/>
              <a:t>	</a:t>
            </a:r>
            <a:r>
              <a:rPr dirty="0" sz="1100" spc="-35"/>
              <a:t>defect</a:t>
            </a:r>
            <a:r>
              <a:rPr dirty="0" sz="1100" spc="-45"/>
              <a:t> </a:t>
            </a:r>
            <a:r>
              <a:rPr dirty="0" sz="1100" spc="-10"/>
              <a:t>datasets.</a:t>
            </a:r>
            <a:endParaRPr sz="1100"/>
          </a:p>
          <a:p>
            <a:pPr marL="237490" marR="88265" indent="-137795">
              <a:lnSpc>
                <a:spcPct val="102600"/>
              </a:lnSpc>
              <a:spcBef>
                <a:spcPts val="300"/>
              </a:spcBef>
              <a:buClr>
                <a:srgbClr val="7E10FF"/>
              </a:buClr>
              <a:buFont typeface="Verdana"/>
              <a:buChar char="•"/>
              <a:tabLst>
                <a:tab pos="238760" algn="l"/>
              </a:tabLst>
            </a:pPr>
            <a:r>
              <a:rPr dirty="0" sz="1100"/>
              <a:t>Many</a:t>
            </a:r>
            <a:r>
              <a:rPr dirty="0" sz="1100" spc="-10"/>
              <a:t> </a:t>
            </a:r>
            <a:r>
              <a:rPr dirty="0" sz="1100" spc="-40"/>
              <a:t>optimization-</a:t>
            </a:r>
            <a:r>
              <a:rPr dirty="0" sz="1100" spc="-25"/>
              <a:t>based</a:t>
            </a:r>
            <a:r>
              <a:rPr dirty="0" sz="1100" spc="-5"/>
              <a:t> </a:t>
            </a:r>
            <a:r>
              <a:rPr dirty="0" sz="1100" spc="-55"/>
              <a:t>approaches</a:t>
            </a:r>
            <a:r>
              <a:rPr dirty="0" sz="1100" spc="-5"/>
              <a:t> </a:t>
            </a:r>
            <a:r>
              <a:rPr dirty="0" sz="1100" spc="-55"/>
              <a:t>have</a:t>
            </a:r>
            <a:r>
              <a:rPr dirty="0" sz="1100" spc="-5"/>
              <a:t> </a:t>
            </a:r>
            <a:r>
              <a:rPr dirty="0" sz="1100" spc="-60"/>
              <a:t>been</a:t>
            </a:r>
            <a:r>
              <a:rPr dirty="0" sz="1100"/>
              <a:t> </a:t>
            </a:r>
            <a:r>
              <a:rPr dirty="0" sz="1100" spc="-35"/>
              <a:t>introduced</a:t>
            </a:r>
            <a:r>
              <a:rPr dirty="0" sz="1100" spc="-5"/>
              <a:t> </a:t>
            </a:r>
            <a:r>
              <a:rPr dirty="0" sz="1100"/>
              <a:t>to</a:t>
            </a:r>
            <a:r>
              <a:rPr dirty="0" sz="1100" spc="-5"/>
              <a:t> </a:t>
            </a:r>
            <a:r>
              <a:rPr dirty="0" sz="1100" spc="-65"/>
              <a:t>enhance</a:t>
            </a:r>
            <a:r>
              <a:rPr dirty="0" sz="1100" spc="-5"/>
              <a:t> </a:t>
            </a:r>
            <a:r>
              <a:rPr dirty="0" sz="1100" spc="-15"/>
              <a:t>classifier </a:t>
            </a:r>
            <a:r>
              <a:rPr dirty="0" sz="1100" spc="-15"/>
              <a:t>	</a:t>
            </a:r>
            <a:r>
              <a:rPr dirty="0" sz="1100" spc="-50"/>
              <a:t>performance,</a:t>
            </a:r>
            <a:r>
              <a:rPr dirty="0" sz="1100" spc="-30"/>
              <a:t> </a:t>
            </a:r>
            <a:r>
              <a:rPr dirty="0" sz="1100"/>
              <a:t>but</a:t>
            </a:r>
            <a:r>
              <a:rPr dirty="0" sz="1100" spc="-25"/>
              <a:t> </a:t>
            </a:r>
            <a:r>
              <a:rPr dirty="0" sz="1100" spc="-30"/>
              <a:t>existing</a:t>
            </a:r>
            <a:r>
              <a:rPr dirty="0" sz="1100" spc="-35"/>
              <a:t> algorithms</a:t>
            </a:r>
            <a:r>
              <a:rPr dirty="0" sz="1100" spc="-30"/>
              <a:t> </a:t>
            </a:r>
            <a:r>
              <a:rPr dirty="0" sz="1100" spc="-25"/>
              <a:t>often</a:t>
            </a:r>
            <a:r>
              <a:rPr dirty="0" sz="1100" spc="-30"/>
              <a:t> </a:t>
            </a:r>
            <a:r>
              <a:rPr dirty="0" sz="1100" spc="-40"/>
              <a:t>face</a:t>
            </a:r>
            <a:r>
              <a:rPr dirty="0" sz="1100" spc="-25"/>
              <a:t> </a:t>
            </a:r>
            <a:r>
              <a:rPr dirty="0" sz="1100" spc="-50"/>
              <a:t>challenges</a:t>
            </a:r>
            <a:r>
              <a:rPr dirty="0" sz="1100" spc="-30"/>
              <a:t> </a:t>
            </a:r>
            <a:r>
              <a:rPr dirty="0" sz="1100" spc="-40"/>
              <a:t>such</a:t>
            </a:r>
            <a:r>
              <a:rPr dirty="0" sz="1100" spc="-30"/>
              <a:t> as </a:t>
            </a:r>
            <a:r>
              <a:rPr dirty="0" sz="1100" spc="-20"/>
              <a:t>slow </a:t>
            </a:r>
            <a:r>
              <a:rPr dirty="0" sz="1100" spc="-20"/>
              <a:t>	</a:t>
            </a:r>
            <a:r>
              <a:rPr dirty="0" sz="1100" spc="-60"/>
              <a:t>convergence,</a:t>
            </a:r>
            <a:r>
              <a:rPr dirty="0" sz="1100" spc="-25"/>
              <a:t> </a:t>
            </a:r>
            <a:r>
              <a:rPr dirty="0" sz="1100" spc="-50"/>
              <a:t>premature</a:t>
            </a:r>
            <a:r>
              <a:rPr dirty="0" sz="1100" spc="-20"/>
              <a:t> </a:t>
            </a:r>
            <a:r>
              <a:rPr dirty="0" sz="1100" spc="-30"/>
              <a:t>stagnation</a:t>
            </a:r>
            <a:r>
              <a:rPr dirty="0" sz="1100" spc="-25"/>
              <a:t> </a:t>
            </a:r>
            <a:r>
              <a:rPr dirty="0" sz="1100"/>
              <a:t>in</a:t>
            </a:r>
            <a:r>
              <a:rPr dirty="0" sz="1100" spc="-20"/>
              <a:t> </a:t>
            </a:r>
            <a:r>
              <a:rPr dirty="0" sz="1100"/>
              <a:t>local</a:t>
            </a:r>
            <a:r>
              <a:rPr dirty="0" sz="1100" spc="-25"/>
              <a:t> optima,</a:t>
            </a:r>
            <a:r>
              <a:rPr dirty="0" sz="1100" spc="-20"/>
              <a:t> </a:t>
            </a:r>
            <a:r>
              <a:rPr dirty="0" sz="1100" spc="-35"/>
              <a:t>and</a:t>
            </a:r>
            <a:r>
              <a:rPr dirty="0" sz="1100" spc="-25"/>
              <a:t> poor</a:t>
            </a:r>
            <a:r>
              <a:rPr dirty="0" sz="1100" spc="-20"/>
              <a:t> </a:t>
            </a:r>
            <a:r>
              <a:rPr dirty="0" sz="1100" spc="-40"/>
              <a:t>generalization</a:t>
            </a:r>
            <a:r>
              <a:rPr dirty="0" sz="1100" spc="-25"/>
              <a:t> to </a:t>
            </a:r>
            <a:r>
              <a:rPr dirty="0" sz="1100" spc="-25"/>
              <a:t>	</a:t>
            </a:r>
            <a:r>
              <a:rPr dirty="0" sz="1100" spc="-55"/>
              <a:t>diverse</a:t>
            </a:r>
            <a:r>
              <a:rPr dirty="0" sz="1100" spc="25"/>
              <a:t> </a:t>
            </a:r>
            <a:r>
              <a:rPr dirty="0" sz="1100" spc="-10"/>
              <a:t>datasets.</a:t>
            </a:r>
            <a:endParaRPr sz="1100"/>
          </a:p>
          <a:p>
            <a:pPr marL="237490" marR="125095" indent="-137795">
              <a:lnSpc>
                <a:spcPct val="102600"/>
              </a:lnSpc>
              <a:spcBef>
                <a:spcPts val="300"/>
              </a:spcBef>
              <a:buClr>
                <a:srgbClr val="7E10FF"/>
              </a:buClr>
              <a:buFont typeface="Verdana"/>
              <a:buChar char="•"/>
              <a:tabLst>
                <a:tab pos="238760" algn="l"/>
              </a:tabLst>
            </a:pPr>
            <a:r>
              <a:rPr dirty="0" sz="1100" spc="-20"/>
              <a:t>There</a:t>
            </a:r>
            <a:r>
              <a:rPr dirty="0" sz="1100" spc="-45"/>
              <a:t> </a:t>
            </a:r>
            <a:r>
              <a:rPr dirty="0" sz="1100"/>
              <a:t>is</a:t>
            </a:r>
            <a:r>
              <a:rPr dirty="0" sz="1100" spc="-35"/>
              <a:t> </a:t>
            </a:r>
            <a:r>
              <a:rPr dirty="0" sz="1100"/>
              <a:t>a</a:t>
            </a:r>
            <a:r>
              <a:rPr dirty="0" sz="1100" spc="-30"/>
              <a:t> </a:t>
            </a:r>
            <a:r>
              <a:rPr dirty="0" sz="1100" spc="-60"/>
              <a:t>need</a:t>
            </a:r>
            <a:r>
              <a:rPr dirty="0" sz="1100" spc="-30"/>
              <a:t> </a:t>
            </a:r>
            <a:r>
              <a:rPr dirty="0" sz="1100" spc="-20"/>
              <a:t>for</a:t>
            </a:r>
            <a:r>
              <a:rPr dirty="0" sz="1100" spc="-30"/>
              <a:t> </a:t>
            </a:r>
            <a:r>
              <a:rPr dirty="0" sz="1100"/>
              <a:t>an</a:t>
            </a:r>
            <a:r>
              <a:rPr dirty="0" sz="1100" spc="-35"/>
              <a:t> </a:t>
            </a:r>
            <a:r>
              <a:rPr dirty="0" sz="1100" spc="-60"/>
              <a:t>advanced</a:t>
            </a:r>
            <a:r>
              <a:rPr dirty="0" sz="1100" spc="-30"/>
              <a:t> </a:t>
            </a:r>
            <a:r>
              <a:rPr dirty="0" sz="1100" spc="-35"/>
              <a:t>and</a:t>
            </a:r>
            <a:r>
              <a:rPr dirty="0" sz="1100" spc="-30"/>
              <a:t> adaptive</a:t>
            </a:r>
            <a:r>
              <a:rPr dirty="0" sz="1100" spc="-35"/>
              <a:t> </a:t>
            </a:r>
            <a:r>
              <a:rPr dirty="0" sz="1100" spc="-25"/>
              <a:t>optimization</a:t>
            </a:r>
            <a:r>
              <a:rPr dirty="0" sz="1100" spc="-30"/>
              <a:t> </a:t>
            </a:r>
            <a:r>
              <a:rPr dirty="0" sz="1100" spc="-35"/>
              <a:t>method </a:t>
            </a:r>
            <a:r>
              <a:rPr dirty="0" sz="1100"/>
              <a:t>that</a:t>
            </a:r>
            <a:r>
              <a:rPr dirty="0" sz="1100" spc="-35"/>
              <a:t> </a:t>
            </a:r>
            <a:r>
              <a:rPr dirty="0" sz="1100" spc="-25"/>
              <a:t>can </a:t>
            </a:r>
            <a:r>
              <a:rPr dirty="0" sz="1100" spc="-25"/>
              <a:t>	</a:t>
            </a:r>
            <a:r>
              <a:rPr dirty="0" sz="1100" spc="-40"/>
              <a:t>effectively</a:t>
            </a:r>
            <a:r>
              <a:rPr dirty="0" sz="1100" spc="-30"/>
              <a:t> </a:t>
            </a:r>
            <a:r>
              <a:rPr dirty="0" sz="1100" spc="-40"/>
              <a:t>balance</a:t>
            </a:r>
            <a:r>
              <a:rPr dirty="0" sz="1100" spc="-25"/>
              <a:t> </a:t>
            </a:r>
            <a:r>
              <a:rPr dirty="0" sz="1100" spc="-35"/>
              <a:t>exploration</a:t>
            </a:r>
            <a:r>
              <a:rPr dirty="0" sz="1100" spc="-25"/>
              <a:t> </a:t>
            </a:r>
            <a:r>
              <a:rPr dirty="0" sz="1100" spc="-35"/>
              <a:t>and</a:t>
            </a:r>
            <a:r>
              <a:rPr dirty="0" sz="1100" spc="-25"/>
              <a:t> </a:t>
            </a:r>
            <a:r>
              <a:rPr dirty="0" sz="1100" spc="-30"/>
              <a:t>exploitation, </a:t>
            </a:r>
            <a:r>
              <a:rPr dirty="0" sz="1100" spc="-55"/>
              <a:t>overcome</a:t>
            </a:r>
            <a:r>
              <a:rPr dirty="0" sz="1100" spc="-25"/>
              <a:t> </a:t>
            </a:r>
            <a:r>
              <a:rPr dirty="0" sz="1100" spc="-10"/>
              <a:t>limitations</a:t>
            </a:r>
            <a:r>
              <a:rPr dirty="0" sz="1100" spc="-25"/>
              <a:t> </a:t>
            </a:r>
            <a:r>
              <a:rPr dirty="0" sz="1100"/>
              <a:t>of</a:t>
            </a:r>
            <a:r>
              <a:rPr dirty="0" sz="1100" spc="-25"/>
              <a:t> </a:t>
            </a:r>
            <a:r>
              <a:rPr dirty="0" sz="1100" spc="-20"/>
              <a:t>current </a:t>
            </a:r>
            <a:r>
              <a:rPr dirty="0" sz="1100" spc="-20"/>
              <a:t>	</a:t>
            </a:r>
            <a:r>
              <a:rPr dirty="0" sz="1100" spc="-45"/>
              <a:t>techniques,</a:t>
            </a:r>
            <a:r>
              <a:rPr dirty="0" sz="1100" spc="-30"/>
              <a:t> </a:t>
            </a:r>
            <a:r>
              <a:rPr dirty="0" sz="1100" spc="-35"/>
              <a:t>and</a:t>
            </a:r>
            <a:r>
              <a:rPr dirty="0" sz="1100" spc="-25"/>
              <a:t> </a:t>
            </a:r>
            <a:r>
              <a:rPr dirty="0" sz="1100" spc="-45"/>
              <a:t>improve</a:t>
            </a:r>
            <a:r>
              <a:rPr dirty="0" sz="1100" spc="-25"/>
              <a:t> </a:t>
            </a:r>
            <a:r>
              <a:rPr dirty="0" sz="1100" spc="-35"/>
              <a:t>defect</a:t>
            </a:r>
            <a:r>
              <a:rPr dirty="0" sz="1100" spc="-30"/>
              <a:t> prediction</a:t>
            </a:r>
            <a:r>
              <a:rPr dirty="0" sz="1100" spc="-25"/>
              <a:t> </a:t>
            </a:r>
            <a:r>
              <a:rPr dirty="0" sz="1100" spc="-35"/>
              <a:t>accuracy</a:t>
            </a:r>
            <a:r>
              <a:rPr dirty="0" sz="1100" spc="-30"/>
              <a:t> </a:t>
            </a:r>
            <a:r>
              <a:rPr dirty="0" sz="1100" spc="-40"/>
              <a:t>across</a:t>
            </a:r>
            <a:r>
              <a:rPr dirty="0" sz="1100" spc="-25"/>
              <a:t> </a:t>
            </a:r>
            <a:r>
              <a:rPr dirty="0" sz="1100" spc="-20"/>
              <a:t>multiple</a:t>
            </a:r>
            <a:r>
              <a:rPr dirty="0" sz="1100" spc="-30"/>
              <a:t> </a:t>
            </a:r>
            <a:r>
              <a:rPr dirty="0" sz="1100" spc="-10"/>
              <a:t>software 	repositories.</a:t>
            </a:r>
            <a:endParaRPr sz="1100"/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Introduction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6990">
              <a:lnSpc>
                <a:spcPts val="1075"/>
              </a:lnSpc>
            </a:pPr>
            <a:fld id="{81D60167-4931-47E6-BA6A-407CBD079E47}" type="slidenum">
              <a:rPr dirty="0" spc="40"/>
              <a:t>2</a:t>
            </a:fld>
            <a:r>
              <a:rPr dirty="0" spc="40"/>
              <a:t>/18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09651" y="852816"/>
            <a:ext cx="5080000" cy="15106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26060" marR="391795" indent="-137795">
              <a:lnSpc>
                <a:spcPct val="102600"/>
              </a:lnSpc>
              <a:spcBef>
                <a:spcPts val="55"/>
              </a:spcBef>
              <a:buClr>
                <a:srgbClr val="7E10FF"/>
              </a:buClr>
              <a:buFont typeface="Verdana"/>
              <a:buChar char="•"/>
              <a:tabLst>
                <a:tab pos="227329" algn="l"/>
              </a:tabLst>
            </a:pPr>
            <a:r>
              <a:rPr dirty="0" sz="1100" spc="-10">
                <a:latin typeface="Tahoma"/>
                <a:cs typeface="Tahoma"/>
              </a:rPr>
              <a:t>Prediction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software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defects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essential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ensure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high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quality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software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and </a:t>
            </a:r>
            <a:r>
              <a:rPr dirty="0" sz="1100" spc="-25">
                <a:latin typeface="Tahoma"/>
                <a:cs typeface="Tahoma"/>
              </a:rPr>
              <a:t>	</a:t>
            </a:r>
            <a:r>
              <a:rPr dirty="0" sz="1100" spc="-60">
                <a:latin typeface="Tahoma"/>
                <a:cs typeface="Tahoma"/>
              </a:rPr>
              <a:t>reduce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development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maintenance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costs.</a:t>
            </a:r>
            <a:endParaRPr sz="1100">
              <a:latin typeface="Tahoma"/>
              <a:cs typeface="Tahoma"/>
            </a:endParaRPr>
          </a:p>
          <a:p>
            <a:pPr marL="226060" marR="81280" indent="-137795">
              <a:lnSpc>
                <a:spcPct val="102600"/>
              </a:lnSpc>
              <a:spcBef>
                <a:spcPts val="300"/>
              </a:spcBef>
              <a:buClr>
                <a:srgbClr val="7E10FF"/>
              </a:buClr>
              <a:buFont typeface="Verdana"/>
              <a:buChar char="•"/>
              <a:tabLst>
                <a:tab pos="227329" algn="l"/>
              </a:tabLst>
            </a:pPr>
            <a:r>
              <a:rPr dirty="0" sz="1100" spc="-20">
                <a:latin typeface="Tahoma"/>
                <a:cs typeface="Tahoma"/>
              </a:rPr>
              <a:t>Traditional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prediction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models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often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struggle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due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noisy,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imbalanced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datasets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and </a:t>
            </a:r>
            <a:r>
              <a:rPr dirty="0" sz="1100" spc="-25">
                <a:latin typeface="Tahoma"/>
                <a:cs typeface="Tahoma"/>
              </a:rPr>
              <a:t>	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dynamic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nature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software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projects.</a:t>
            </a:r>
            <a:endParaRPr sz="1100">
              <a:latin typeface="Tahoma"/>
              <a:cs typeface="Tahoma"/>
            </a:endParaRPr>
          </a:p>
          <a:p>
            <a:pPr marL="226060" marR="144145" indent="-137795">
              <a:lnSpc>
                <a:spcPct val="102699"/>
              </a:lnSpc>
              <a:spcBef>
                <a:spcPts val="300"/>
              </a:spcBef>
              <a:buClr>
                <a:srgbClr val="7E10FF"/>
              </a:buClr>
              <a:buFont typeface="Verdana"/>
              <a:buChar char="•"/>
              <a:tabLst>
                <a:tab pos="227329" algn="l"/>
              </a:tabLst>
            </a:pPr>
            <a:r>
              <a:rPr dirty="0" sz="1100" spc="-30">
                <a:latin typeface="Tahoma"/>
                <a:cs typeface="Tahoma"/>
              </a:rPr>
              <a:t>Evolutionary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swarm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intelligence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algorithms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have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been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used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10">
                <a:latin typeface="Tahoma"/>
                <a:cs typeface="Tahoma"/>
              </a:rPr>
              <a:t> optimize </a:t>
            </a:r>
            <a:r>
              <a:rPr dirty="0" sz="1100" spc="-10">
                <a:latin typeface="Tahoma"/>
                <a:cs typeface="Tahoma"/>
              </a:rPr>
              <a:t>	</a:t>
            </a:r>
            <a:r>
              <a:rPr dirty="0" sz="1100" spc="-35">
                <a:latin typeface="Tahoma"/>
                <a:cs typeface="Tahoma"/>
              </a:rPr>
              <a:t>classifiers,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but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often</a:t>
            </a:r>
            <a:r>
              <a:rPr dirty="0" sz="1100" spc="-40">
                <a:latin typeface="Tahoma"/>
                <a:cs typeface="Tahoma"/>
              </a:rPr>
              <a:t> suffer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premature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convergence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 </a:t>
            </a:r>
            <a:r>
              <a:rPr dirty="0" sz="1100" spc="-25">
                <a:latin typeface="Tahoma"/>
                <a:cs typeface="Tahoma"/>
              </a:rPr>
              <a:t>poor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scalability.</a:t>
            </a:r>
            <a:endParaRPr sz="1100">
              <a:latin typeface="Tahoma"/>
              <a:cs typeface="Tahoma"/>
            </a:endParaRPr>
          </a:p>
          <a:p>
            <a:pPr marL="226060" marR="224790" indent="-137795">
              <a:lnSpc>
                <a:spcPct val="102600"/>
              </a:lnSpc>
              <a:spcBef>
                <a:spcPts val="295"/>
              </a:spcBef>
              <a:buClr>
                <a:srgbClr val="7E10FF"/>
              </a:buClr>
              <a:buFont typeface="Verdana"/>
              <a:buChar char="•"/>
              <a:tabLst>
                <a:tab pos="227329" algn="l"/>
              </a:tabLst>
            </a:pPr>
            <a:r>
              <a:rPr dirty="0" sz="1100" spc="-20">
                <a:latin typeface="Tahoma"/>
                <a:cs typeface="Tahoma"/>
              </a:rPr>
              <a:t>There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growing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need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adaptive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robust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optimization </a:t>
            </a:r>
            <a:r>
              <a:rPr dirty="0" sz="1100" spc="-40">
                <a:latin typeface="Tahoma"/>
                <a:cs typeface="Tahoma"/>
              </a:rPr>
              <a:t>methods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can </a:t>
            </a:r>
            <a:r>
              <a:rPr dirty="0" sz="1100" spc="-25">
                <a:latin typeface="Tahoma"/>
                <a:cs typeface="Tahoma"/>
              </a:rPr>
              <a:t>	</a:t>
            </a:r>
            <a:r>
              <a:rPr dirty="0" sz="1100" spc="-45">
                <a:latin typeface="Tahoma"/>
                <a:cs typeface="Tahoma"/>
              </a:rPr>
              <a:t>improve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prediction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accuracy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efficiency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diverse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sets.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Dataset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6990">
              <a:lnSpc>
                <a:spcPts val="1075"/>
              </a:lnSpc>
            </a:pPr>
            <a:fld id="{81D60167-4931-47E6-BA6A-407CBD079E47}" type="slidenum">
              <a:rPr dirty="0" spc="40"/>
              <a:t>2</a:t>
            </a:fld>
            <a:r>
              <a:rPr dirty="0" spc="40"/>
              <a:t>/18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21894" y="543727"/>
            <a:ext cx="2303145" cy="224599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5"/>
              </a:spcBef>
            </a:pPr>
            <a:r>
              <a:rPr dirty="0" sz="1200">
                <a:solidFill>
                  <a:srgbClr val="7E10FF"/>
                </a:solidFill>
                <a:latin typeface="Tahoma"/>
                <a:cs typeface="Tahoma"/>
              </a:rPr>
              <a:t>NASA</a:t>
            </a:r>
            <a:r>
              <a:rPr dirty="0" sz="1200" spc="95">
                <a:solidFill>
                  <a:srgbClr val="7E10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7E10FF"/>
                </a:solidFill>
                <a:latin typeface="Tahoma"/>
                <a:cs typeface="Tahoma"/>
              </a:rPr>
              <a:t>Datasets</a:t>
            </a:r>
            <a:endParaRPr sz="1200">
              <a:latin typeface="Tahoma"/>
              <a:cs typeface="Tahoma"/>
            </a:endParaRPr>
          </a:p>
          <a:p>
            <a:pPr marL="314325" indent="-137795">
              <a:lnSpc>
                <a:spcPct val="100000"/>
              </a:lnSpc>
              <a:spcBef>
                <a:spcPts val="290"/>
              </a:spcBef>
              <a:buClr>
                <a:srgbClr val="7E10FF"/>
              </a:buClr>
              <a:buFont typeface="Verdana"/>
              <a:buChar char="•"/>
              <a:tabLst>
                <a:tab pos="314325" algn="l"/>
              </a:tabLst>
            </a:pPr>
            <a:r>
              <a:rPr dirty="0" sz="1100" spc="-20">
                <a:latin typeface="Tahoma"/>
                <a:cs typeface="Tahoma"/>
              </a:rPr>
              <a:t>Projects:</a:t>
            </a:r>
            <a:r>
              <a:rPr dirty="0" sz="1100" spc="1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PC1,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CM1,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MC2,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MW1</a:t>
            </a:r>
            <a:endParaRPr sz="1100">
              <a:latin typeface="Tahoma"/>
              <a:cs typeface="Tahoma"/>
            </a:endParaRPr>
          </a:p>
          <a:p>
            <a:pPr marL="314325" indent="-137795">
              <a:lnSpc>
                <a:spcPct val="100000"/>
              </a:lnSpc>
              <a:spcBef>
                <a:spcPts val="335"/>
              </a:spcBef>
              <a:buClr>
                <a:srgbClr val="7E10FF"/>
              </a:buClr>
              <a:buFont typeface="Verdana"/>
              <a:buChar char="•"/>
              <a:tabLst>
                <a:tab pos="314325" algn="l"/>
              </a:tabLst>
            </a:pPr>
            <a:r>
              <a:rPr dirty="0" sz="1100" spc="-25">
                <a:latin typeface="Tahoma"/>
                <a:cs typeface="Tahoma"/>
              </a:rPr>
              <a:t>Characteristic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number: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37</a:t>
            </a:r>
            <a:endParaRPr sz="1100">
              <a:latin typeface="Tahoma"/>
              <a:cs typeface="Tahoma"/>
            </a:endParaRPr>
          </a:p>
          <a:p>
            <a:pPr marL="314325" indent="-137795">
              <a:lnSpc>
                <a:spcPct val="100000"/>
              </a:lnSpc>
              <a:spcBef>
                <a:spcPts val="335"/>
              </a:spcBef>
              <a:buClr>
                <a:srgbClr val="7E10FF"/>
              </a:buClr>
              <a:buFont typeface="Verdana"/>
              <a:buChar char="•"/>
              <a:tabLst>
                <a:tab pos="314325" algn="l"/>
              </a:tabLst>
            </a:pPr>
            <a:r>
              <a:rPr dirty="0" sz="1100" spc="-40">
                <a:latin typeface="Tahoma"/>
                <a:cs typeface="Tahoma"/>
              </a:rPr>
              <a:t>Samples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range: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125 </a:t>
            </a:r>
            <a:r>
              <a:rPr dirty="0" sz="1100">
                <a:latin typeface="Tahoma"/>
                <a:cs typeface="Tahoma"/>
              </a:rPr>
              <a:t>–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735</a:t>
            </a:r>
            <a:endParaRPr sz="1100">
              <a:latin typeface="Tahoma"/>
              <a:cs typeface="Tahoma"/>
            </a:endParaRPr>
          </a:p>
          <a:p>
            <a:pPr marL="314325" indent="-137795">
              <a:lnSpc>
                <a:spcPct val="100000"/>
              </a:lnSpc>
              <a:spcBef>
                <a:spcPts val="335"/>
              </a:spcBef>
              <a:buClr>
                <a:srgbClr val="7E10FF"/>
              </a:buClr>
              <a:buFont typeface="Verdana"/>
              <a:buChar char="•"/>
              <a:tabLst>
                <a:tab pos="314325" algn="l"/>
              </a:tabLst>
            </a:pPr>
            <a:r>
              <a:rPr dirty="0" sz="1100" spc="-20">
                <a:latin typeface="Tahoma"/>
                <a:cs typeface="Tahoma"/>
              </a:rPr>
              <a:t>Defect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rates: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0.0830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–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0.3520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130"/>
              </a:spcBef>
            </a:pPr>
            <a:r>
              <a:rPr dirty="0" sz="1200">
                <a:solidFill>
                  <a:srgbClr val="7E10FF"/>
                </a:solidFill>
                <a:latin typeface="Tahoma"/>
                <a:cs typeface="Tahoma"/>
              </a:rPr>
              <a:t>AEEEM</a:t>
            </a:r>
            <a:r>
              <a:rPr dirty="0" sz="1200" spc="195">
                <a:solidFill>
                  <a:srgbClr val="7E10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7E10FF"/>
                </a:solidFill>
                <a:latin typeface="Tahoma"/>
                <a:cs typeface="Tahoma"/>
              </a:rPr>
              <a:t>Datasets</a:t>
            </a:r>
            <a:endParaRPr sz="1200">
              <a:latin typeface="Tahoma"/>
              <a:cs typeface="Tahoma"/>
            </a:endParaRPr>
          </a:p>
          <a:p>
            <a:pPr marL="314325" indent="-137795">
              <a:lnSpc>
                <a:spcPct val="100000"/>
              </a:lnSpc>
              <a:spcBef>
                <a:spcPts val="290"/>
              </a:spcBef>
              <a:buClr>
                <a:srgbClr val="7E10FF"/>
              </a:buClr>
              <a:buFont typeface="Verdana"/>
              <a:buChar char="•"/>
              <a:tabLst>
                <a:tab pos="314325" algn="l"/>
              </a:tabLst>
            </a:pPr>
            <a:r>
              <a:rPr dirty="0" sz="1100" spc="-20">
                <a:latin typeface="Tahoma"/>
                <a:cs typeface="Tahoma"/>
              </a:rPr>
              <a:t>Projects:</a:t>
            </a:r>
            <a:r>
              <a:rPr dirty="0" sz="1100" spc="19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JDT,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PDE,</a:t>
            </a:r>
            <a:r>
              <a:rPr dirty="0" sz="1100" spc="65">
                <a:latin typeface="Tahoma"/>
                <a:cs typeface="Tahoma"/>
              </a:rPr>
              <a:t> </a:t>
            </a:r>
            <a:r>
              <a:rPr dirty="0" sz="1100" spc="45">
                <a:latin typeface="Tahoma"/>
                <a:cs typeface="Tahoma"/>
              </a:rPr>
              <a:t>ML</a:t>
            </a:r>
            <a:endParaRPr sz="1100">
              <a:latin typeface="Tahoma"/>
              <a:cs typeface="Tahoma"/>
            </a:endParaRPr>
          </a:p>
          <a:p>
            <a:pPr marL="314325" indent="-137795">
              <a:lnSpc>
                <a:spcPct val="100000"/>
              </a:lnSpc>
              <a:spcBef>
                <a:spcPts val="335"/>
              </a:spcBef>
              <a:buClr>
                <a:srgbClr val="7E10FF"/>
              </a:buClr>
              <a:buFont typeface="Verdana"/>
              <a:buChar char="•"/>
              <a:tabLst>
                <a:tab pos="314325" algn="l"/>
              </a:tabLst>
            </a:pPr>
            <a:r>
              <a:rPr dirty="0" sz="1100" spc="-25">
                <a:latin typeface="Tahoma"/>
                <a:cs typeface="Tahoma"/>
              </a:rPr>
              <a:t>Characteristic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number: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61</a:t>
            </a:r>
            <a:endParaRPr sz="1100">
              <a:latin typeface="Tahoma"/>
              <a:cs typeface="Tahoma"/>
            </a:endParaRPr>
          </a:p>
          <a:p>
            <a:pPr marL="314325" indent="-137795">
              <a:lnSpc>
                <a:spcPct val="100000"/>
              </a:lnSpc>
              <a:spcBef>
                <a:spcPts val="335"/>
              </a:spcBef>
              <a:buClr>
                <a:srgbClr val="7E10FF"/>
              </a:buClr>
              <a:buFont typeface="Verdana"/>
              <a:buChar char="•"/>
              <a:tabLst>
                <a:tab pos="314325" algn="l"/>
              </a:tabLst>
            </a:pPr>
            <a:r>
              <a:rPr dirty="0" sz="1100" spc="-40">
                <a:latin typeface="Tahoma"/>
                <a:cs typeface="Tahoma"/>
              </a:rPr>
              <a:t>Samples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range: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997 </a:t>
            </a:r>
            <a:r>
              <a:rPr dirty="0" sz="1100">
                <a:latin typeface="Tahoma"/>
                <a:cs typeface="Tahoma"/>
              </a:rPr>
              <a:t>–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1862</a:t>
            </a:r>
            <a:endParaRPr sz="1100">
              <a:latin typeface="Tahoma"/>
              <a:cs typeface="Tahoma"/>
            </a:endParaRPr>
          </a:p>
          <a:p>
            <a:pPr marL="314325" indent="-137795">
              <a:lnSpc>
                <a:spcPct val="100000"/>
              </a:lnSpc>
              <a:spcBef>
                <a:spcPts val="334"/>
              </a:spcBef>
              <a:buClr>
                <a:srgbClr val="7E10FF"/>
              </a:buClr>
              <a:buFont typeface="Verdana"/>
              <a:buChar char="•"/>
              <a:tabLst>
                <a:tab pos="314325" algn="l"/>
              </a:tabLst>
            </a:pPr>
            <a:r>
              <a:rPr dirty="0" sz="1100" spc="-20">
                <a:latin typeface="Tahoma"/>
                <a:cs typeface="Tahoma"/>
              </a:rPr>
              <a:t>Defect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rates: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0.1321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–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0.2066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Dataset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212958" y="2116365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 h="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613046" y="2116365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 h="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21894" y="543727"/>
            <a:ext cx="5035550" cy="224599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5"/>
              </a:spcBef>
            </a:pPr>
            <a:r>
              <a:rPr dirty="0" sz="1200">
                <a:solidFill>
                  <a:srgbClr val="7E10FF"/>
                </a:solidFill>
                <a:latin typeface="Tahoma"/>
                <a:cs typeface="Tahoma"/>
              </a:rPr>
              <a:t>MORPH</a:t>
            </a:r>
            <a:r>
              <a:rPr dirty="0" sz="1200" spc="165">
                <a:solidFill>
                  <a:srgbClr val="7E10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7E10FF"/>
                </a:solidFill>
                <a:latin typeface="Tahoma"/>
                <a:cs typeface="Tahoma"/>
              </a:rPr>
              <a:t>Datasets</a:t>
            </a:r>
            <a:endParaRPr sz="1200">
              <a:latin typeface="Tahoma"/>
              <a:cs typeface="Tahoma"/>
            </a:endParaRPr>
          </a:p>
          <a:p>
            <a:pPr marL="314325" indent="-137795">
              <a:lnSpc>
                <a:spcPct val="100000"/>
              </a:lnSpc>
              <a:spcBef>
                <a:spcPts val="290"/>
              </a:spcBef>
              <a:buClr>
                <a:srgbClr val="7E10FF"/>
              </a:buClr>
              <a:buFont typeface="Verdana"/>
              <a:buChar char="•"/>
              <a:tabLst>
                <a:tab pos="314325" algn="l"/>
              </a:tabLst>
            </a:pPr>
            <a:r>
              <a:rPr dirty="0" sz="1100" spc="-20">
                <a:latin typeface="Tahoma"/>
                <a:cs typeface="Tahoma"/>
              </a:rPr>
              <a:t>Projects: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ant-</a:t>
            </a:r>
            <a:r>
              <a:rPr dirty="0" sz="1100" spc="-20">
                <a:latin typeface="Tahoma"/>
                <a:cs typeface="Tahoma"/>
              </a:rPr>
              <a:t>1.3,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arc,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camel-</a:t>
            </a:r>
            <a:r>
              <a:rPr dirty="0" sz="1100" spc="-25">
                <a:latin typeface="Tahoma"/>
                <a:cs typeface="Tahoma"/>
              </a:rPr>
              <a:t>1.0</a:t>
            </a:r>
            <a:endParaRPr sz="1100">
              <a:latin typeface="Tahoma"/>
              <a:cs typeface="Tahoma"/>
            </a:endParaRPr>
          </a:p>
          <a:p>
            <a:pPr marL="314325" indent="-137795">
              <a:lnSpc>
                <a:spcPct val="100000"/>
              </a:lnSpc>
              <a:spcBef>
                <a:spcPts val="335"/>
              </a:spcBef>
              <a:buClr>
                <a:srgbClr val="7E10FF"/>
              </a:buClr>
              <a:buFont typeface="Verdana"/>
              <a:buChar char="•"/>
              <a:tabLst>
                <a:tab pos="314325" algn="l"/>
              </a:tabLst>
            </a:pPr>
            <a:r>
              <a:rPr dirty="0" sz="1100" spc="-25">
                <a:latin typeface="Tahoma"/>
                <a:cs typeface="Tahoma"/>
              </a:rPr>
              <a:t>Characteristic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number: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20</a:t>
            </a:r>
            <a:endParaRPr sz="1100">
              <a:latin typeface="Tahoma"/>
              <a:cs typeface="Tahoma"/>
            </a:endParaRPr>
          </a:p>
          <a:p>
            <a:pPr marL="314325" indent="-137795">
              <a:lnSpc>
                <a:spcPct val="100000"/>
              </a:lnSpc>
              <a:spcBef>
                <a:spcPts val="335"/>
              </a:spcBef>
              <a:buClr>
                <a:srgbClr val="7E10FF"/>
              </a:buClr>
              <a:buFont typeface="Verdana"/>
              <a:buChar char="•"/>
              <a:tabLst>
                <a:tab pos="314325" algn="l"/>
              </a:tabLst>
            </a:pPr>
            <a:r>
              <a:rPr dirty="0" sz="1100" spc="-40">
                <a:latin typeface="Tahoma"/>
                <a:cs typeface="Tahoma"/>
              </a:rPr>
              <a:t>Samples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range: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125 </a:t>
            </a:r>
            <a:r>
              <a:rPr dirty="0" sz="1100">
                <a:latin typeface="Tahoma"/>
                <a:cs typeface="Tahoma"/>
              </a:rPr>
              <a:t>–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339</a:t>
            </a:r>
            <a:endParaRPr sz="1100">
              <a:latin typeface="Tahoma"/>
              <a:cs typeface="Tahoma"/>
            </a:endParaRPr>
          </a:p>
          <a:p>
            <a:pPr marL="314325" indent="-137795">
              <a:lnSpc>
                <a:spcPct val="100000"/>
              </a:lnSpc>
              <a:spcBef>
                <a:spcPts val="335"/>
              </a:spcBef>
              <a:buClr>
                <a:srgbClr val="7E10FF"/>
              </a:buClr>
              <a:buFont typeface="Verdana"/>
              <a:buChar char="•"/>
              <a:tabLst>
                <a:tab pos="314325" algn="l"/>
              </a:tabLst>
            </a:pPr>
            <a:r>
              <a:rPr dirty="0" sz="1100" spc="-20">
                <a:latin typeface="Tahoma"/>
                <a:cs typeface="Tahoma"/>
              </a:rPr>
              <a:t>Defect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rates: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0.0383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–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0.1600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130"/>
              </a:spcBef>
            </a:pPr>
            <a:r>
              <a:rPr dirty="0" sz="1200">
                <a:solidFill>
                  <a:srgbClr val="7E10FF"/>
                </a:solidFill>
                <a:latin typeface="Tahoma"/>
                <a:cs typeface="Tahoma"/>
              </a:rPr>
              <a:t>JIRA</a:t>
            </a:r>
            <a:r>
              <a:rPr dirty="0" sz="1200" spc="-40">
                <a:solidFill>
                  <a:srgbClr val="7E10FF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7E10FF"/>
                </a:solidFill>
                <a:latin typeface="Tahoma"/>
                <a:cs typeface="Tahoma"/>
              </a:rPr>
              <a:t>Datasets</a:t>
            </a:r>
            <a:endParaRPr sz="1200">
              <a:latin typeface="Tahoma"/>
              <a:cs typeface="Tahoma"/>
            </a:endParaRPr>
          </a:p>
          <a:p>
            <a:pPr marL="314325" indent="-137795">
              <a:lnSpc>
                <a:spcPct val="100000"/>
              </a:lnSpc>
              <a:spcBef>
                <a:spcPts val="290"/>
              </a:spcBef>
              <a:buClr>
                <a:srgbClr val="7E10FF"/>
              </a:buClr>
              <a:buFont typeface="Verdana"/>
              <a:buChar char="•"/>
              <a:tabLst>
                <a:tab pos="314325" algn="l"/>
              </a:tabLst>
            </a:pPr>
            <a:r>
              <a:rPr dirty="0" sz="1100" spc="-20">
                <a:latin typeface="Tahoma"/>
                <a:cs typeface="Tahoma"/>
              </a:rPr>
              <a:t>Projects:</a:t>
            </a:r>
            <a:r>
              <a:rPr dirty="0" sz="1100" spc="1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activemq-</a:t>
            </a:r>
            <a:r>
              <a:rPr dirty="0" sz="1100" spc="-30">
                <a:latin typeface="Tahoma"/>
                <a:cs typeface="Tahoma"/>
              </a:rPr>
              <a:t>5.0.0,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hbase-</a:t>
            </a:r>
            <a:r>
              <a:rPr dirty="0" sz="1100" spc="-45">
                <a:latin typeface="Tahoma"/>
                <a:cs typeface="Tahoma"/>
              </a:rPr>
              <a:t>0.94.0,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hive-</a:t>
            </a:r>
            <a:r>
              <a:rPr dirty="0" sz="1100" spc="-35">
                <a:latin typeface="Tahoma"/>
                <a:cs typeface="Tahoma"/>
              </a:rPr>
              <a:t>0.9.0,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groovy-</a:t>
            </a:r>
            <a:r>
              <a:rPr dirty="0" sz="1100" spc="-20">
                <a:latin typeface="Tahoma"/>
                <a:cs typeface="Tahoma"/>
              </a:rPr>
              <a:t>1.6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BETA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1,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jruby-</a:t>
            </a:r>
            <a:r>
              <a:rPr dirty="0" sz="1100" spc="-25">
                <a:latin typeface="Tahoma"/>
                <a:cs typeface="Tahoma"/>
              </a:rPr>
              <a:t>1.1</a:t>
            </a:r>
            <a:endParaRPr sz="1100">
              <a:latin typeface="Tahoma"/>
              <a:cs typeface="Tahoma"/>
            </a:endParaRPr>
          </a:p>
          <a:p>
            <a:pPr marL="314325" indent="-137795">
              <a:lnSpc>
                <a:spcPct val="100000"/>
              </a:lnSpc>
              <a:spcBef>
                <a:spcPts val="335"/>
              </a:spcBef>
              <a:buClr>
                <a:srgbClr val="7E10FF"/>
              </a:buClr>
              <a:buFont typeface="Verdana"/>
              <a:buChar char="•"/>
              <a:tabLst>
                <a:tab pos="314325" algn="l"/>
              </a:tabLst>
            </a:pPr>
            <a:r>
              <a:rPr dirty="0" sz="1100" spc="-25">
                <a:latin typeface="Tahoma"/>
                <a:cs typeface="Tahoma"/>
              </a:rPr>
              <a:t>Characteristic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number: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65</a:t>
            </a:r>
            <a:endParaRPr sz="1100">
              <a:latin typeface="Tahoma"/>
              <a:cs typeface="Tahoma"/>
            </a:endParaRPr>
          </a:p>
          <a:p>
            <a:pPr marL="314325" indent="-137795">
              <a:lnSpc>
                <a:spcPct val="100000"/>
              </a:lnSpc>
              <a:spcBef>
                <a:spcPts val="335"/>
              </a:spcBef>
              <a:buClr>
                <a:srgbClr val="7E10FF"/>
              </a:buClr>
              <a:buFont typeface="Verdana"/>
              <a:buChar char="•"/>
              <a:tabLst>
                <a:tab pos="314325" algn="l"/>
              </a:tabLst>
            </a:pPr>
            <a:r>
              <a:rPr dirty="0" sz="1100" spc="-40">
                <a:latin typeface="Tahoma"/>
                <a:cs typeface="Tahoma"/>
              </a:rPr>
              <a:t>Samples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range: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731 </a:t>
            </a:r>
            <a:r>
              <a:rPr dirty="0" sz="1100">
                <a:latin typeface="Tahoma"/>
                <a:cs typeface="Tahoma"/>
              </a:rPr>
              <a:t>–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1884</a:t>
            </a:r>
            <a:endParaRPr sz="1100">
              <a:latin typeface="Tahoma"/>
              <a:cs typeface="Tahoma"/>
            </a:endParaRPr>
          </a:p>
          <a:p>
            <a:pPr marL="314325" indent="-137795">
              <a:lnSpc>
                <a:spcPct val="100000"/>
              </a:lnSpc>
              <a:spcBef>
                <a:spcPts val="334"/>
              </a:spcBef>
              <a:buClr>
                <a:srgbClr val="7E10FF"/>
              </a:buClr>
              <a:buFont typeface="Verdana"/>
              <a:buChar char="•"/>
              <a:tabLst>
                <a:tab pos="314325" algn="l"/>
              </a:tabLst>
            </a:pPr>
            <a:r>
              <a:rPr dirty="0" sz="1100" spc="-20">
                <a:latin typeface="Tahoma"/>
                <a:cs typeface="Tahoma"/>
              </a:rPr>
              <a:t>Defect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rates: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0.0852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–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0.2058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75"/>
              </a:lnSpc>
            </a:pPr>
            <a:fld id="{81D60167-4931-47E6-BA6A-407CBD079E47}" type="slidenum">
              <a:rPr dirty="0" spc="40"/>
              <a:t>10</a:t>
            </a:fld>
            <a:r>
              <a:rPr dirty="0" spc="40"/>
              <a:t>/18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7337"/>
            <a:ext cx="140398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Algorithms</a:t>
            </a:r>
            <a:r>
              <a:rPr dirty="0" spc="35"/>
              <a:t> </a:t>
            </a:r>
            <a:r>
              <a:rPr dirty="0" spc="-25"/>
              <a:t>Used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75"/>
              </a:lnSpc>
            </a:pPr>
            <a:fld id="{81D60167-4931-47E6-BA6A-407CBD079E47}" type="slidenum">
              <a:rPr dirty="0" spc="40"/>
              <a:t>10</a:t>
            </a:fld>
            <a:r>
              <a:rPr dirty="0" spc="40"/>
              <a:t>/18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251" y="631150"/>
            <a:ext cx="5053965" cy="206438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1460" marR="106680" indent="-137795">
              <a:lnSpc>
                <a:spcPct val="102600"/>
              </a:lnSpc>
              <a:spcBef>
                <a:spcPts val="55"/>
              </a:spcBef>
              <a:buClr>
                <a:srgbClr val="7E10FF"/>
              </a:buClr>
              <a:buFont typeface="Verdana"/>
              <a:buChar char="•"/>
              <a:tabLst>
                <a:tab pos="252729" algn="l"/>
              </a:tabLst>
            </a:pPr>
            <a:r>
              <a:rPr dirty="0" sz="1100" spc="-30">
                <a:latin typeface="Tahoma"/>
                <a:cs typeface="Tahoma"/>
              </a:rPr>
              <a:t>Extreme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Learning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Model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(ELM):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55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fast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learning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algorithm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 </a:t>
            </a:r>
            <a:r>
              <a:rPr dirty="0" sz="1100" spc="-50">
                <a:latin typeface="Tahoma"/>
                <a:cs typeface="Tahoma"/>
              </a:rPr>
              <a:t>single-</a:t>
            </a:r>
            <a:r>
              <a:rPr dirty="0" sz="1100" spc="-40">
                <a:latin typeface="Tahoma"/>
                <a:cs typeface="Tahoma"/>
              </a:rPr>
              <a:t>hidden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layer </a:t>
            </a:r>
            <a:r>
              <a:rPr dirty="0" sz="1100" spc="-30">
                <a:latin typeface="Tahoma"/>
                <a:cs typeface="Tahoma"/>
              </a:rPr>
              <a:t>	</a:t>
            </a:r>
            <a:r>
              <a:rPr dirty="0" sz="1100" spc="-60">
                <a:latin typeface="Tahoma"/>
                <a:cs typeface="Tahoma"/>
              </a:rPr>
              <a:t>feedforward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neural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networks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randomly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assigns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input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weights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biases.</a:t>
            </a:r>
            <a:endParaRPr sz="1100">
              <a:latin typeface="Tahoma"/>
              <a:cs typeface="Tahoma"/>
            </a:endParaRPr>
          </a:p>
          <a:p>
            <a:pPr marL="251460" marR="249554" indent="-137795">
              <a:lnSpc>
                <a:spcPct val="102600"/>
              </a:lnSpc>
              <a:spcBef>
                <a:spcPts val="300"/>
              </a:spcBef>
              <a:buClr>
                <a:srgbClr val="7E10FF"/>
              </a:buClr>
              <a:buFont typeface="Verdana"/>
              <a:buChar char="•"/>
              <a:tabLst>
                <a:tab pos="252729" algn="l"/>
              </a:tabLst>
            </a:pPr>
            <a:r>
              <a:rPr dirty="0" sz="1100" spc="-45">
                <a:latin typeface="Tahoma"/>
                <a:cs typeface="Tahoma"/>
              </a:rPr>
              <a:t>Sparrow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Search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Algorithm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(SSA):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55">
                <a:latin typeface="Tahoma"/>
                <a:cs typeface="Tahoma"/>
              </a:rPr>
              <a:t>A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swarm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intelligence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optimization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algorithm </a:t>
            </a:r>
            <a:r>
              <a:rPr dirty="0" sz="1100" spc="-25">
                <a:latin typeface="Tahoma"/>
                <a:cs typeface="Tahoma"/>
              </a:rPr>
              <a:t>	</a:t>
            </a:r>
            <a:r>
              <a:rPr dirty="0" sz="1100" spc="-35">
                <a:latin typeface="Tahoma"/>
                <a:cs typeface="Tahoma"/>
              </a:rPr>
              <a:t>inspired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foraging </a:t>
            </a:r>
            <a:r>
              <a:rPr dirty="0" sz="1100" spc="-35">
                <a:latin typeface="Tahoma"/>
                <a:cs typeface="Tahoma"/>
              </a:rPr>
              <a:t>and anti-</a:t>
            </a:r>
            <a:r>
              <a:rPr dirty="0" sz="1100" spc="-40">
                <a:latin typeface="Tahoma"/>
                <a:cs typeface="Tahoma"/>
              </a:rPr>
              <a:t>predation behavior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sparrows.</a:t>
            </a:r>
            <a:endParaRPr sz="1100">
              <a:latin typeface="Tahoma"/>
              <a:cs typeface="Tahoma"/>
            </a:endParaRPr>
          </a:p>
          <a:p>
            <a:pPr marL="251460" marR="247650" indent="-137795">
              <a:lnSpc>
                <a:spcPct val="102600"/>
              </a:lnSpc>
              <a:spcBef>
                <a:spcPts val="300"/>
              </a:spcBef>
              <a:buClr>
                <a:srgbClr val="7E10FF"/>
              </a:buClr>
              <a:buFont typeface="Verdana"/>
              <a:buChar char="•"/>
              <a:tabLst>
                <a:tab pos="252729" algn="l"/>
              </a:tabLst>
            </a:pPr>
            <a:r>
              <a:rPr dirty="0" sz="1100" spc="-20">
                <a:latin typeface="Tahoma"/>
                <a:cs typeface="Tahoma"/>
              </a:rPr>
              <a:t>Adaptive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Variable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Sparrow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Search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Algorithm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(AVSSA):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improved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SSA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that </a:t>
            </a:r>
            <a:r>
              <a:rPr dirty="0" sz="1100" spc="-20">
                <a:latin typeface="Tahoma"/>
                <a:cs typeface="Tahoma"/>
              </a:rPr>
              <a:t>	</a:t>
            </a:r>
            <a:r>
              <a:rPr dirty="0" sz="1100" spc="-30">
                <a:latin typeface="Tahoma"/>
                <a:cs typeface="Tahoma"/>
              </a:rPr>
              <a:t>adaptively </a:t>
            </a:r>
            <a:r>
              <a:rPr dirty="0" sz="1100" spc="-35">
                <a:latin typeface="Tahoma"/>
                <a:cs typeface="Tahoma"/>
              </a:rPr>
              <a:t>adjusts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search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strategies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balance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exploration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exploitation.</a:t>
            </a:r>
            <a:endParaRPr sz="1100">
              <a:latin typeface="Tahoma"/>
              <a:cs typeface="Tahoma"/>
            </a:endParaRPr>
          </a:p>
          <a:p>
            <a:pPr marL="251460" marR="280035" indent="-137795">
              <a:lnSpc>
                <a:spcPct val="102600"/>
              </a:lnSpc>
              <a:spcBef>
                <a:spcPts val="300"/>
              </a:spcBef>
              <a:buClr>
                <a:srgbClr val="7E10FF"/>
              </a:buClr>
              <a:buFont typeface="Verdana"/>
              <a:buChar char="•"/>
              <a:tabLst>
                <a:tab pos="252729" algn="l"/>
              </a:tabLst>
            </a:pPr>
            <a:r>
              <a:rPr dirty="0" sz="1100" spc="-45">
                <a:latin typeface="Tahoma"/>
                <a:cs typeface="Tahoma"/>
              </a:rPr>
              <a:t>Sparrow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Eagle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Based</a:t>
            </a:r>
            <a:r>
              <a:rPr dirty="0" sz="1100" spc="-20">
                <a:latin typeface="Tahoma"/>
                <a:cs typeface="Tahoma"/>
              </a:rPr>
              <a:t> Algorithm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(SEB):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55">
                <a:latin typeface="Tahoma"/>
                <a:cs typeface="Tahoma"/>
              </a:rPr>
              <a:t>A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hybrid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approach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combining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sparrow 	search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dynamics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eagle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strategy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enhance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global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optimization.</a:t>
            </a:r>
            <a:endParaRPr sz="1100">
              <a:latin typeface="Tahoma"/>
              <a:cs typeface="Tahoma"/>
            </a:endParaRPr>
          </a:p>
          <a:p>
            <a:pPr marL="251460" marR="250190" indent="-137795">
              <a:lnSpc>
                <a:spcPct val="102600"/>
              </a:lnSpc>
              <a:spcBef>
                <a:spcPts val="300"/>
              </a:spcBef>
              <a:buClr>
                <a:srgbClr val="7E10FF"/>
              </a:buClr>
              <a:buFont typeface="Verdana"/>
              <a:buChar char="•"/>
              <a:tabLst>
                <a:tab pos="252729" algn="l"/>
              </a:tabLst>
            </a:pPr>
            <a:r>
              <a:rPr dirty="0" sz="1100" spc="-20">
                <a:latin typeface="Tahoma"/>
                <a:cs typeface="Tahoma"/>
              </a:rPr>
              <a:t>Adaptive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Variable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Sparrow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Eagle</a:t>
            </a:r>
            <a:r>
              <a:rPr dirty="0" sz="1100" spc="-25">
                <a:latin typeface="Tahoma"/>
                <a:cs typeface="Tahoma"/>
              </a:rPr>
              <a:t> Based </a:t>
            </a:r>
            <a:r>
              <a:rPr dirty="0" sz="1100" spc="-20">
                <a:latin typeface="Tahoma"/>
                <a:cs typeface="Tahoma"/>
              </a:rPr>
              <a:t>Algorithm </a:t>
            </a:r>
            <a:r>
              <a:rPr dirty="0" sz="1100">
                <a:latin typeface="Tahoma"/>
                <a:cs typeface="Tahoma"/>
              </a:rPr>
              <a:t>(AVSEB):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proposed </a:t>
            </a:r>
            <a:r>
              <a:rPr dirty="0" sz="1100" spc="-10">
                <a:latin typeface="Tahoma"/>
                <a:cs typeface="Tahoma"/>
              </a:rPr>
              <a:t>	</a:t>
            </a:r>
            <a:r>
              <a:rPr dirty="0" sz="1100" spc="-30">
                <a:latin typeface="Tahoma"/>
                <a:cs typeface="Tahoma"/>
              </a:rPr>
              <a:t>algorithm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adaptively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tunes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parameters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SEB</a:t>
            </a:r>
            <a:r>
              <a:rPr dirty="0" sz="1100" spc="-20">
                <a:latin typeface="Tahoma"/>
                <a:cs typeface="Tahoma"/>
              </a:rPr>
              <a:t> for better </a:t>
            </a:r>
            <a:r>
              <a:rPr dirty="0" sz="1100" spc="-60">
                <a:latin typeface="Tahoma"/>
                <a:cs typeface="Tahoma"/>
              </a:rPr>
              <a:t>convergence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and </a:t>
            </a:r>
            <a:r>
              <a:rPr dirty="0" sz="1100" spc="-25">
                <a:latin typeface="Tahoma"/>
                <a:cs typeface="Tahoma"/>
              </a:rPr>
              <a:t>	</a:t>
            </a:r>
            <a:r>
              <a:rPr dirty="0" sz="1100" spc="-30">
                <a:latin typeface="Tahoma"/>
                <a:cs typeface="Tahoma"/>
              </a:rPr>
              <a:t>prediction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accuracy.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Benchmark</a:t>
            </a:r>
            <a:r>
              <a:rPr dirty="0" spc="30"/>
              <a:t> </a:t>
            </a:r>
            <a:r>
              <a:rPr dirty="0" spc="-35"/>
              <a:t>Functions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0451" y="503121"/>
            <a:ext cx="4976495" cy="7461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75260" marR="163830" indent="-137795">
              <a:lnSpc>
                <a:spcPct val="102600"/>
              </a:lnSpc>
              <a:spcBef>
                <a:spcPts val="55"/>
              </a:spcBef>
              <a:buClr>
                <a:srgbClr val="7E10FF"/>
              </a:buClr>
              <a:buFont typeface="Verdana"/>
              <a:buChar char="•"/>
              <a:tabLst>
                <a:tab pos="176530" algn="l"/>
              </a:tabLst>
            </a:pPr>
            <a:r>
              <a:rPr dirty="0" sz="1100" spc="-35">
                <a:latin typeface="Tahoma"/>
                <a:cs typeface="Tahoma"/>
              </a:rPr>
              <a:t>Standard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mathematical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benchmark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functions,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such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Sphere,</a:t>
            </a:r>
            <a:r>
              <a:rPr dirty="0" sz="1100" spc="-25">
                <a:latin typeface="Tahoma"/>
                <a:cs typeface="Tahoma"/>
              </a:rPr>
              <a:t> Rastrigin,</a:t>
            </a:r>
            <a:r>
              <a:rPr dirty="0" sz="1100" spc="-20">
                <a:latin typeface="Tahoma"/>
                <a:cs typeface="Tahoma"/>
              </a:rPr>
              <a:t> Ackley, </a:t>
            </a:r>
            <a:r>
              <a:rPr dirty="0" sz="1100" spc="-20">
                <a:latin typeface="Tahoma"/>
                <a:cs typeface="Tahoma"/>
              </a:rPr>
              <a:t>	</a:t>
            </a:r>
            <a:r>
              <a:rPr dirty="0" sz="1100" spc="-40">
                <a:latin typeface="Tahoma"/>
                <a:cs typeface="Tahoma"/>
              </a:rPr>
              <a:t>Griewank,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Rosenbrock,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widely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used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test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optimization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algorithms.</a:t>
            </a:r>
            <a:endParaRPr sz="1100">
              <a:latin typeface="Tahoma"/>
              <a:cs typeface="Tahoma"/>
            </a:endParaRPr>
          </a:p>
          <a:p>
            <a:pPr marL="175260" marR="30480" indent="-137795">
              <a:lnSpc>
                <a:spcPct val="102699"/>
              </a:lnSpc>
              <a:spcBef>
                <a:spcPts val="300"/>
              </a:spcBef>
              <a:buClr>
                <a:srgbClr val="7E10FF"/>
              </a:buClr>
              <a:buFont typeface="Verdana"/>
              <a:buChar char="•"/>
              <a:tabLst>
                <a:tab pos="176530" algn="l"/>
              </a:tabLst>
            </a:pPr>
            <a:r>
              <a:rPr dirty="0" sz="1100">
                <a:latin typeface="Tahoma"/>
                <a:cs typeface="Tahoma"/>
              </a:rPr>
              <a:t>They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evaluate</a:t>
            </a:r>
            <a:r>
              <a:rPr dirty="0" sz="1100" spc="-30">
                <a:latin typeface="Tahoma"/>
                <a:cs typeface="Tahoma"/>
              </a:rPr>
              <a:t> algorithm </a:t>
            </a:r>
            <a:r>
              <a:rPr dirty="0" sz="1100" spc="-50">
                <a:latin typeface="Tahoma"/>
                <a:cs typeface="Tahoma"/>
              </a:rPr>
              <a:t>performance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terms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convergence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speed,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stability, </a:t>
            </a:r>
            <a:r>
              <a:rPr dirty="0" sz="1100" spc="-25">
                <a:latin typeface="Tahoma"/>
                <a:cs typeface="Tahoma"/>
              </a:rPr>
              <a:t>and </a:t>
            </a:r>
            <a:r>
              <a:rPr dirty="0" sz="1100" spc="-25">
                <a:latin typeface="Tahoma"/>
                <a:cs typeface="Tahoma"/>
              </a:rPr>
              <a:t>	</a:t>
            </a:r>
            <a:r>
              <a:rPr dirty="0" sz="1100" spc="-10">
                <a:latin typeface="Tahoma"/>
                <a:cs typeface="Tahoma"/>
              </a:rPr>
              <a:t>ability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achieve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global </a:t>
            </a:r>
            <a:r>
              <a:rPr dirty="0" sz="1100" spc="-50">
                <a:latin typeface="Tahoma"/>
                <a:cs typeface="Tahoma"/>
              </a:rPr>
              <a:t>search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capability.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668" y="1494511"/>
            <a:ext cx="4906013" cy="134428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75"/>
              </a:lnSpc>
            </a:pPr>
            <a:fld id="{81D60167-4931-47E6-BA6A-407CBD079E47}" type="slidenum">
              <a:rPr dirty="0" spc="40"/>
              <a:t>10</a:t>
            </a:fld>
            <a:r>
              <a:rPr dirty="0" spc="40"/>
              <a:t>/18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Convergence</a:t>
            </a:r>
            <a:r>
              <a:rPr dirty="0" spc="40"/>
              <a:t> </a:t>
            </a:r>
            <a:r>
              <a:rPr dirty="0" spc="-45"/>
              <a:t>Graphs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02247" y="514513"/>
            <a:ext cx="4954270" cy="34353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442720" marR="5080" indent="-1430655">
              <a:lnSpc>
                <a:spcPts val="1200"/>
              </a:lnSpc>
              <a:spcBef>
                <a:spcPts val="229"/>
              </a:spcBef>
            </a:pPr>
            <a:r>
              <a:rPr dirty="0" sz="1100" b="1">
                <a:latin typeface="Arial"/>
                <a:cs typeface="Arial"/>
              </a:rPr>
              <a:t>Note:</a:t>
            </a:r>
            <a:r>
              <a:rPr dirty="0" sz="1100" spc="125" b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Convergence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graphs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illustrate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how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quickly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effectively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algorithms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approach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optimal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solution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over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iterations.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507" y="885520"/>
            <a:ext cx="3488269" cy="171154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461985" y="2643675"/>
            <a:ext cx="28365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5">
                <a:latin typeface="Tahoma"/>
                <a:cs typeface="Tahoma"/>
              </a:rPr>
              <a:t>Convergence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behavior</a:t>
            </a:r>
            <a:r>
              <a:rPr dirty="0" sz="1000">
                <a:latin typeface="Tahoma"/>
                <a:cs typeface="Tahoma"/>
              </a:rPr>
              <a:t> of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AVSEB </a:t>
            </a:r>
            <a:r>
              <a:rPr dirty="0" sz="1000" spc="-30">
                <a:latin typeface="Tahoma"/>
                <a:cs typeface="Tahoma"/>
              </a:rPr>
              <a:t>vs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other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algorithms.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75"/>
              </a:lnSpc>
            </a:pPr>
            <a:fld id="{81D60167-4931-47E6-BA6A-407CBD079E47}" type="slidenum">
              <a:rPr dirty="0" spc="40"/>
              <a:t>10</a:t>
            </a:fld>
            <a:r>
              <a:rPr dirty="0" spc="40"/>
              <a:t>/18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0"/>
              <a:t>3D</a:t>
            </a:r>
            <a:r>
              <a:rPr dirty="0" spc="140"/>
              <a:t> </a:t>
            </a:r>
            <a:r>
              <a:rPr dirty="0" spc="-10"/>
              <a:t>Heatmaps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9610" y="458367"/>
            <a:ext cx="4779645" cy="34353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120140" marR="5080" indent="-1108075">
              <a:lnSpc>
                <a:spcPts val="1200"/>
              </a:lnSpc>
              <a:spcBef>
                <a:spcPts val="229"/>
              </a:spcBef>
            </a:pPr>
            <a:r>
              <a:rPr dirty="0" sz="1100" b="1">
                <a:latin typeface="Arial"/>
                <a:cs typeface="Arial"/>
              </a:rPr>
              <a:t>Note:</a:t>
            </a:r>
            <a:r>
              <a:rPr dirty="0" sz="1100" spc="114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3D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heatmaps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depict </a:t>
            </a:r>
            <a:r>
              <a:rPr dirty="0" sz="1100" spc="-55">
                <a:latin typeface="Tahoma"/>
                <a:cs typeface="Tahoma"/>
              </a:rPr>
              <a:t>how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algorithms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search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solution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space,</a:t>
            </a:r>
            <a:r>
              <a:rPr dirty="0" sz="1100" spc="-20">
                <a:latin typeface="Tahoma"/>
                <a:cs typeface="Tahoma"/>
              </a:rPr>
              <a:t> highlighting </a:t>
            </a:r>
            <a:r>
              <a:rPr dirty="0" sz="1100" spc="-45">
                <a:latin typeface="Tahoma"/>
                <a:cs typeface="Tahoma"/>
              </a:rPr>
              <a:t>regions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intensification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diversification.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5742" y="828148"/>
            <a:ext cx="3449097" cy="185512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95311" y="2727901"/>
            <a:ext cx="31705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ahoma"/>
                <a:cs typeface="Tahoma"/>
              </a:rPr>
              <a:t>Visualization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solution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space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exploration</a:t>
            </a:r>
            <a:r>
              <a:rPr dirty="0" sz="1000" spc="-25">
                <a:latin typeface="Tahoma"/>
                <a:cs typeface="Tahoma"/>
              </a:rPr>
              <a:t> and </a:t>
            </a:r>
            <a:r>
              <a:rPr dirty="0" sz="1000" spc="-10">
                <a:latin typeface="Tahoma"/>
                <a:cs typeface="Tahoma"/>
              </a:rPr>
              <a:t>exploitation.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75"/>
              </a:lnSpc>
            </a:pPr>
            <a:fld id="{81D60167-4931-47E6-BA6A-407CBD079E47}" type="slidenum">
              <a:rPr dirty="0" spc="40"/>
              <a:t>10</a:t>
            </a:fld>
            <a:r>
              <a:rPr dirty="0" spc="40"/>
              <a:t>/18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Wilcoxon</a:t>
            </a:r>
            <a:r>
              <a:rPr dirty="0" spc="-5"/>
              <a:t> </a:t>
            </a:r>
            <a:r>
              <a:rPr dirty="0"/>
              <a:t>Rank</a:t>
            </a:r>
            <a:r>
              <a:rPr dirty="0" spc="-5"/>
              <a:t> </a:t>
            </a:r>
            <a:r>
              <a:rPr dirty="0" spc="-20"/>
              <a:t>Test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47751" y="454759"/>
            <a:ext cx="4602480" cy="82804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88595" indent="-137795">
              <a:lnSpc>
                <a:spcPct val="100000"/>
              </a:lnSpc>
              <a:spcBef>
                <a:spcPts val="434"/>
              </a:spcBef>
              <a:buClr>
                <a:srgbClr val="7E10FF"/>
              </a:buClr>
              <a:buFont typeface="Verdana"/>
              <a:buChar char="•"/>
              <a:tabLst>
                <a:tab pos="188595" algn="l"/>
              </a:tabLst>
            </a:pPr>
            <a:r>
              <a:rPr dirty="0" sz="1100" spc="55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non-</a:t>
            </a:r>
            <a:r>
              <a:rPr dirty="0" sz="1100" spc="-40">
                <a:latin typeface="Tahoma"/>
                <a:cs typeface="Tahoma"/>
              </a:rPr>
              <a:t>parametric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statistical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test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used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compare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two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paired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samples.</a:t>
            </a:r>
            <a:endParaRPr sz="1100">
              <a:latin typeface="Tahoma"/>
              <a:cs typeface="Tahoma"/>
            </a:endParaRPr>
          </a:p>
          <a:p>
            <a:pPr marL="187960" marR="30480" indent="-137795">
              <a:lnSpc>
                <a:spcPct val="102600"/>
              </a:lnSpc>
              <a:spcBef>
                <a:spcPts val="300"/>
              </a:spcBef>
              <a:buClr>
                <a:srgbClr val="7E10FF"/>
              </a:buClr>
              <a:buFont typeface="Verdana"/>
              <a:buChar char="•"/>
              <a:tabLst>
                <a:tab pos="189230" algn="l"/>
              </a:tabLst>
            </a:pPr>
            <a:r>
              <a:rPr dirty="0" sz="1100" spc="-25">
                <a:latin typeface="Tahoma"/>
                <a:cs typeface="Tahoma"/>
              </a:rPr>
              <a:t>Helps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validate </a:t>
            </a:r>
            <a:r>
              <a:rPr dirty="0" sz="1100" spc="-45">
                <a:latin typeface="Tahoma"/>
                <a:cs typeface="Tahoma"/>
              </a:rPr>
              <a:t>whether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differences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algorithm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performance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statistically 	significant.</a:t>
            </a:r>
            <a:endParaRPr sz="1100">
              <a:latin typeface="Tahoma"/>
              <a:cs typeface="Tahoma"/>
            </a:endParaRPr>
          </a:p>
          <a:p>
            <a:pPr marL="188595" indent="-137795">
              <a:lnSpc>
                <a:spcPct val="100000"/>
              </a:lnSpc>
              <a:spcBef>
                <a:spcPts val="330"/>
              </a:spcBef>
              <a:buClr>
                <a:srgbClr val="7E10FF"/>
              </a:buClr>
              <a:buFont typeface="Verdana"/>
              <a:buChar char="•"/>
              <a:tabLst>
                <a:tab pos="188595" algn="l"/>
              </a:tabLst>
            </a:pPr>
            <a:r>
              <a:rPr dirty="0" sz="1100" spc="-20">
                <a:latin typeface="Tahoma"/>
                <a:cs typeface="Tahoma"/>
              </a:rPr>
              <a:t>Applied</a:t>
            </a:r>
            <a:r>
              <a:rPr dirty="0" sz="1100">
                <a:latin typeface="Tahoma"/>
                <a:cs typeface="Tahoma"/>
              </a:rPr>
              <a:t> to </a:t>
            </a:r>
            <a:r>
              <a:rPr dirty="0" sz="1100" spc="-60">
                <a:latin typeface="Tahoma"/>
                <a:cs typeface="Tahoma"/>
              </a:rPr>
              <a:t>compare</a:t>
            </a:r>
            <a:r>
              <a:rPr dirty="0" sz="1100">
                <a:latin typeface="Tahoma"/>
                <a:cs typeface="Tahoma"/>
              </a:rPr>
              <a:t> AVSEB </a:t>
            </a:r>
            <a:r>
              <a:rPr dirty="0" sz="1100" spc="-35">
                <a:latin typeface="Tahoma"/>
                <a:cs typeface="Tahoma"/>
              </a:rPr>
              <a:t>against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baseline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algorithms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across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datasets.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868" y="1541325"/>
            <a:ext cx="4461072" cy="135057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75"/>
              </a:lnSpc>
            </a:pPr>
            <a:fld id="{81D60167-4931-47E6-BA6A-407CBD079E47}" type="slidenum">
              <a:rPr dirty="0" spc="40"/>
              <a:t>10</a:t>
            </a:fld>
            <a:r>
              <a:rPr dirty="0" spc="40"/>
              <a:t>/18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F</a:t>
            </a:r>
            <a:r>
              <a:rPr dirty="0" spc="-10"/>
              <a:t>riedman</a:t>
            </a:r>
            <a:r>
              <a:rPr dirty="0" spc="-20"/>
              <a:t> </a:t>
            </a:r>
            <a:r>
              <a:rPr dirty="0" spc="-10"/>
              <a:t>Average</a:t>
            </a:r>
            <a:r>
              <a:rPr dirty="0" spc="-20"/>
              <a:t> </a:t>
            </a:r>
            <a:r>
              <a:rPr dirty="0" spc="-25"/>
              <a:t>Ranking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0451" y="572755"/>
            <a:ext cx="4836795" cy="65595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75895" indent="-137795">
              <a:lnSpc>
                <a:spcPct val="100000"/>
              </a:lnSpc>
              <a:spcBef>
                <a:spcPts val="434"/>
              </a:spcBef>
              <a:buClr>
                <a:srgbClr val="7E10FF"/>
              </a:buClr>
              <a:buFont typeface="Verdana"/>
              <a:buChar char="•"/>
              <a:tabLst>
                <a:tab pos="175895" algn="l"/>
              </a:tabLst>
            </a:pPr>
            <a:r>
              <a:rPr dirty="0" sz="1100" spc="-45">
                <a:latin typeface="Tahoma"/>
                <a:cs typeface="Tahoma"/>
              </a:rPr>
              <a:t>Non-</a:t>
            </a:r>
            <a:r>
              <a:rPr dirty="0" sz="1100" spc="-35">
                <a:latin typeface="Tahoma"/>
                <a:cs typeface="Tahoma"/>
              </a:rPr>
              <a:t>parametric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test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 multiple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algorithm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comparison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across</a:t>
            </a:r>
            <a:r>
              <a:rPr dirty="0" sz="1100" spc="-20">
                <a:latin typeface="Tahoma"/>
                <a:cs typeface="Tahoma"/>
              </a:rPr>
              <a:t> multiple </a:t>
            </a:r>
            <a:r>
              <a:rPr dirty="0" sz="1100" spc="-10">
                <a:latin typeface="Tahoma"/>
                <a:cs typeface="Tahoma"/>
              </a:rPr>
              <a:t>datasets.</a:t>
            </a:r>
            <a:endParaRPr sz="1100">
              <a:latin typeface="Tahoma"/>
              <a:cs typeface="Tahoma"/>
            </a:endParaRPr>
          </a:p>
          <a:p>
            <a:pPr marL="175895" indent="-137795">
              <a:lnSpc>
                <a:spcPct val="100000"/>
              </a:lnSpc>
              <a:spcBef>
                <a:spcPts val="334"/>
              </a:spcBef>
              <a:buClr>
                <a:srgbClr val="7E10FF"/>
              </a:buClr>
              <a:buFont typeface="Verdana"/>
              <a:buChar char="•"/>
              <a:tabLst>
                <a:tab pos="175895" algn="l"/>
              </a:tabLst>
            </a:pPr>
            <a:r>
              <a:rPr dirty="0" sz="1100" spc="-30">
                <a:latin typeface="Tahoma"/>
                <a:cs typeface="Tahoma"/>
              </a:rPr>
              <a:t>Produces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average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ranking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algorithms </a:t>
            </a:r>
            <a:r>
              <a:rPr dirty="0" sz="1100" spc="-60">
                <a:latin typeface="Tahoma"/>
                <a:cs typeface="Tahoma"/>
              </a:rPr>
              <a:t>based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performance.</a:t>
            </a:r>
            <a:endParaRPr sz="1100">
              <a:latin typeface="Tahoma"/>
              <a:cs typeface="Tahoma"/>
            </a:endParaRPr>
          </a:p>
          <a:p>
            <a:pPr marL="175895" indent="-137795">
              <a:lnSpc>
                <a:spcPct val="100000"/>
              </a:lnSpc>
              <a:spcBef>
                <a:spcPts val="330"/>
              </a:spcBef>
              <a:buClr>
                <a:srgbClr val="7E10FF"/>
              </a:buClr>
              <a:buFont typeface="Verdana"/>
              <a:buChar char="•"/>
              <a:tabLst>
                <a:tab pos="175895" algn="l"/>
              </a:tabLst>
            </a:pPr>
            <a:r>
              <a:rPr dirty="0" sz="1100" spc="-30">
                <a:latin typeface="Tahoma"/>
                <a:cs typeface="Tahoma"/>
              </a:rPr>
              <a:t>Used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confirm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robustness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generalization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ability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AVSEB.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1445400"/>
            <a:ext cx="5039948" cy="129638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75"/>
              </a:lnSpc>
            </a:pPr>
            <a:fld id="{81D60167-4931-47E6-BA6A-407CBD079E47}" type="slidenum">
              <a:rPr dirty="0" spc="40"/>
              <a:t>10</a:t>
            </a:fld>
            <a:r>
              <a:rPr dirty="0" spc="40"/>
              <a:t>/18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Evaluation</a:t>
            </a:r>
            <a:r>
              <a:rPr dirty="0" spc="20"/>
              <a:t> </a:t>
            </a:r>
            <a:r>
              <a:rPr dirty="0" spc="-10"/>
              <a:t>Metrics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5851" y="586395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solidFill>
                  <a:srgbClr val="7E10FF"/>
                </a:solidFill>
                <a:latin typeface="Verdana"/>
                <a:cs typeface="Verdana"/>
              </a:rPr>
              <a:t>•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24395" y="602220"/>
            <a:ext cx="97599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Tahoma"/>
                <a:cs typeface="Tahoma"/>
              </a:rPr>
              <a:t>Recall: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35" i="1">
                <a:latin typeface="Trebuchet MS"/>
                <a:cs typeface="Trebuchet MS"/>
              </a:rPr>
              <a:t>Recall</a:t>
            </a:r>
            <a:r>
              <a:rPr dirty="0" sz="1100" spc="-45" i="1">
                <a:latin typeface="Trebuchet MS"/>
                <a:cs typeface="Trebuchet MS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28305" y="584986"/>
            <a:ext cx="4051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800" spc="26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dirty="0" u="sng" sz="800" spc="5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TP</a:t>
            </a:r>
            <a:r>
              <a:rPr dirty="0" u="sng" sz="800" spc="5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28305" y="687322"/>
            <a:ext cx="3968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latin typeface="Arial"/>
                <a:cs typeface="Arial"/>
              </a:rPr>
              <a:t>TP</a:t>
            </a:r>
            <a:r>
              <a:rPr dirty="0" sz="800" spc="-10">
                <a:latin typeface="Tahoma"/>
                <a:cs typeface="Tahoma"/>
              </a:rPr>
              <a:t>+</a:t>
            </a:r>
            <a:r>
              <a:rPr dirty="0" sz="800" spc="-10" i="1">
                <a:latin typeface="Arial"/>
                <a:cs typeface="Arial"/>
              </a:rPr>
              <a:t>FN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24395" y="774292"/>
            <a:ext cx="43891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Tahoma"/>
                <a:cs typeface="Tahoma"/>
              </a:rPr>
              <a:t>Measures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proportion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actual</a:t>
            </a:r>
            <a:r>
              <a:rPr dirty="0" sz="1100" spc="-45">
                <a:latin typeface="Tahoma"/>
                <a:cs typeface="Tahoma"/>
              </a:rPr>
              <a:t> defects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correctly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identified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model.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8514" y="1210571"/>
            <a:ext cx="3507938" cy="1532691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75"/>
              </a:lnSpc>
            </a:pPr>
            <a:fld id="{81D60167-4931-47E6-BA6A-407CBD079E47}" type="slidenum">
              <a:rPr dirty="0" spc="40"/>
              <a:t>10</a:t>
            </a:fld>
            <a:r>
              <a:rPr dirty="0" spc="40"/>
              <a:t>/18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Evaluation</a:t>
            </a:r>
            <a:r>
              <a:rPr dirty="0" spc="20"/>
              <a:t> </a:t>
            </a:r>
            <a:r>
              <a:rPr dirty="0" spc="-10"/>
              <a:t>Metrics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0451" y="569492"/>
            <a:ext cx="15767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5895" indent="-137795">
              <a:lnSpc>
                <a:spcPct val="100000"/>
              </a:lnSpc>
              <a:spcBef>
                <a:spcPts val="90"/>
              </a:spcBef>
              <a:buClr>
                <a:srgbClr val="7E10FF"/>
              </a:buClr>
              <a:buFont typeface="Verdana"/>
              <a:buChar char="•"/>
              <a:tabLst>
                <a:tab pos="175895" algn="l"/>
              </a:tabLst>
            </a:pPr>
            <a:r>
              <a:rPr dirty="0" sz="1100" spc="-40">
                <a:latin typeface="Tahoma"/>
                <a:cs typeface="Tahoma"/>
              </a:rPr>
              <a:t>G-</a:t>
            </a:r>
            <a:r>
              <a:rPr dirty="0" sz="1100" spc="-10">
                <a:latin typeface="Tahoma"/>
                <a:cs typeface="Tahoma"/>
              </a:rPr>
              <a:t>Mean: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sz="1100" spc="-30" i="1">
                <a:latin typeface="Trebuchet MS"/>
                <a:cs typeface="Trebuchet MS"/>
              </a:rPr>
              <a:t>G</a:t>
            </a:r>
            <a:r>
              <a:rPr dirty="0" sz="1100" spc="-204" i="1">
                <a:latin typeface="Trebuchet MS"/>
                <a:cs typeface="Trebuchet MS"/>
              </a:rPr>
              <a:t> </a:t>
            </a:r>
            <a:r>
              <a:rPr dirty="0" sz="1100" spc="-40">
                <a:latin typeface="Tahoma"/>
                <a:cs typeface="Tahoma"/>
              </a:rPr>
              <a:t>-</a:t>
            </a:r>
            <a:r>
              <a:rPr dirty="0" sz="1100" spc="-10" i="1">
                <a:latin typeface="Trebuchet MS"/>
                <a:cs typeface="Trebuchet MS"/>
              </a:rPr>
              <a:t>Mean</a:t>
            </a:r>
            <a:r>
              <a:rPr dirty="0" sz="1100" spc="-40" i="1">
                <a:latin typeface="Trebuchet MS"/>
                <a:cs typeface="Trebuchet MS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baseline="63131" sz="1650" spc="637">
                <a:latin typeface="Arial MT"/>
                <a:cs typeface="Arial MT"/>
              </a:rPr>
              <a:t>q</a:t>
            </a:r>
            <a:endParaRPr baseline="63131" sz="165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998510" y="559320"/>
            <a:ext cx="989330" cy="0"/>
          </a:xfrm>
          <a:custGeom>
            <a:avLst/>
            <a:gdLst/>
            <a:ahLst/>
            <a:cxnLst/>
            <a:rect l="l" t="t" r="r" b="b"/>
            <a:pathLst>
              <a:path w="989330" h="0">
                <a:moveTo>
                  <a:pt x="0" y="0"/>
                </a:moveTo>
                <a:lnTo>
                  <a:pt x="98915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013686" y="686092"/>
            <a:ext cx="379730" cy="0"/>
          </a:xfrm>
          <a:custGeom>
            <a:avLst/>
            <a:gdLst/>
            <a:ahLst/>
            <a:cxnLst/>
            <a:rect l="l" t="t" r="r" b="b"/>
            <a:pathLst>
              <a:path w="379730" h="0">
                <a:moveTo>
                  <a:pt x="0" y="0"/>
                </a:moveTo>
                <a:lnTo>
                  <a:pt x="37953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2426512" y="569492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Verdana"/>
                <a:cs typeface="Verdana"/>
              </a:rPr>
              <a:t>×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115566" y="552258"/>
            <a:ext cx="75057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8010" algn="l"/>
              </a:tabLst>
            </a:pPr>
            <a:r>
              <a:rPr dirty="0" sz="800" spc="-25" i="1">
                <a:latin typeface="Arial"/>
                <a:cs typeface="Arial"/>
              </a:rPr>
              <a:t>TP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25" i="1">
                <a:latin typeface="Arial"/>
                <a:cs typeface="Arial"/>
              </a:rPr>
              <a:t>TN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2592933" y="686092"/>
            <a:ext cx="379730" cy="0"/>
          </a:xfrm>
          <a:custGeom>
            <a:avLst/>
            <a:gdLst/>
            <a:ahLst/>
            <a:cxnLst/>
            <a:rect l="l" t="t" r="r" b="b"/>
            <a:pathLst>
              <a:path w="379730" h="0">
                <a:moveTo>
                  <a:pt x="0" y="0"/>
                </a:moveTo>
                <a:lnTo>
                  <a:pt x="37953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000986" y="654594"/>
            <a:ext cx="975994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91820" algn="l"/>
              </a:tabLst>
            </a:pPr>
            <a:r>
              <a:rPr dirty="0" sz="800" spc="-10" i="1">
                <a:latin typeface="Arial"/>
                <a:cs typeface="Arial"/>
              </a:rPr>
              <a:t>TP</a:t>
            </a:r>
            <a:r>
              <a:rPr dirty="0" sz="800" spc="-10">
                <a:latin typeface="Tahoma"/>
                <a:cs typeface="Tahoma"/>
              </a:rPr>
              <a:t>+</a:t>
            </a:r>
            <a:r>
              <a:rPr dirty="0" sz="800" spc="-10" i="1">
                <a:latin typeface="Arial"/>
                <a:cs typeface="Arial"/>
              </a:rPr>
              <a:t>FN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10" i="1">
                <a:latin typeface="Arial"/>
                <a:cs typeface="Arial"/>
              </a:rPr>
              <a:t>TN</a:t>
            </a:r>
            <a:r>
              <a:rPr dirty="0" sz="800" spc="-10">
                <a:latin typeface="Tahoma"/>
                <a:cs typeface="Tahoma"/>
              </a:rPr>
              <a:t>+</a:t>
            </a:r>
            <a:r>
              <a:rPr dirty="0" sz="800" spc="-10" i="1">
                <a:latin typeface="Arial"/>
                <a:cs typeface="Arial"/>
              </a:rPr>
              <a:t>FP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24395" y="771244"/>
            <a:ext cx="37560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Tahoma"/>
                <a:cs typeface="Tahoma"/>
              </a:rPr>
              <a:t>Evaluates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balance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between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sensitivity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(recall)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specificity.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5915" y="1210124"/>
            <a:ext cx="3490565" cy="1577347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75"/>
              </a:lnSpc>
            </a:pPr>
            <a:fld id="{81D60167-4931-47E6-BA6A-407CBD079E47}" type="slidenum">
              <a:rPr dirty="0" spc="40"/>
              <a:t>10</a:t>
            </a:fld>
            <a:r>
              <a:rPr dirty="0" spc="40"/>
              <a:t>/18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Evaluation</a:t>
            </a:r>
            <a:r>
              <a:rPr dirty="0" spc="20"/>
              <a:t> </a:t>
            </a:r>
            <a:r>
              <a:rPr dirty="0" spc="-10"/>
              <a:t>Metrics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5851" y="574597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solidFill>
                  <a:srgbClr val="7E10FF"/>
                </a:solidFill>
                <a:latin typeface="Verdana"/>
                <a:cs typeface="Verdana"/>
              </a:rPr>
              <a:t>•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24395" y="590408"/>
            <a:ext cx="9772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F-</a:t>
            </a:r>
            <a:r>
              <a:rPr dirty="0" sz="1100" spc="-35">
                <a:latin typeface="Tahoma"/>
                <a:cs typeface="Tahoma"/>
              </a:rPr>
              <a:t>Measure:</a:t>
            </a:r>
            <a:r>
              <a:rPr dirty="0" sz="1100" spc="90">
                <a:latin typeface="Tahoma"/>
                <a:cs typeface="Tahoma"/>
              </a:rPr>
              <a:t> </a:t>
            </a:r>
            <a:r>
              <a:rPr dirty="0" sz="1100" i="1">
                <a:latin typeface="Trebuchet MS"/>
                <a:cs typeface="Trebuchet MS"/>
              </a:rPr>
              <a:t>F</a:t>
            </a:r>
            <a:r>
              <a:rPr dirty="0" sz="1100" spc="75" i="1">
                <a:latin typeface="Trebuchet MS"/>
                <a:cs typeface="Trebuchet MS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29841" y="573187"/>
            <a:ext cx="9194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8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</a:t>
            </a:r>
            <a:r>
              <a:rPr dirty="0" u="sng" sz="800" spc="-10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×</a:t>
            </a:r>
            <a:r>
              <a:rPr dirty="0" u="sng" sz="8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Precision</a:t>
            </a:r>
            <a:r>
              <a:rPr dirty="0" u="sng" sz="800" spc="-10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×</a:t>
            </a:r>
            <a:r>
              <a:rPr dirty="0" u="sng" sz="8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Recall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98548" y="675511"/>
            <a:ext cx="78232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latin typeface="Arial"/>
                <a:cs typeface="Arial"/>
              </a:rPr>
              <a:t>Precision</a:t>
            </a:r>
            <a:r>
              <a:rPr dirty="0" sz="800" spc="-10">
                <a:latin typeface="Tahoma"/>
                <a:cs typeface="Tahoma"/>
              </a:rPr>
              <a:t>+</a:t>
            </a:r>
            <a:r>
              <a:rPr dirty="0" sz="800" spc="-10" i="1">
                <a:latin typeface="Arial"/>
                <a:cs typeface="Arial"/>
              </a:rPr>
              <a:t>Recall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24395" y="762481"/>
            <a:ext cx="31483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Represents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harmonic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mean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precision</a:t>
            </a:r>
            <a:r>
              <a:rPr dirty="0" sz="1100" spc="-35">
                <a:latin typeface="Tahoma"/>
                <a:cs typeface="Tahoma"/>
              </a:rPr>
              <a:t> and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recall.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428" y="1186206"/>
            <a:ext cx="3490565" cy="1577347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75"/>
              </a:lnSpc>
            </a:pPr>
            <a:fld id="{81D60167-4931-47E6-BA6A-407CBD079E47}" type="slidenum">
              <a:rPr dirty="0" spc="40"/>
              <a:t>10</a:t>
            </a:fld>
            <a:r>
              <a:rPr dirty="0" spc="40"/>
              <a:t>/18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Evaluation</a:t>
            </a:r>
            <a:r>
              <a:rPr dirty="0" spc="20"/>
              <a:t> </a:t>
            </a:r>
            <a:r>
              <a:rPr dirty="0" spc="-10"/>
              <a:t>Metrics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84832" y="422502"/>
            <a:ext cx="8604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latin typeface="Arial"/>
                <a:cs typeface="Arial"/>
              </a:rPr>
              <a:t>TP</a:t>
            </a:r>
            <a:r>
              <a:rPr dirty="0" sz="800" spc="-10" i="1">
                <a:latin typeface="Verdana"/>
                <a:cs typeface="Verdana"/>
              </a:rPr>
              <a:t>×</a:t>
            </a:r>
            <a:r>
              <a:rPr dirty="0" sz="800" spc="-10" i="1">
                <a:latin typeface="Arial"/>
                <a:cs typeface="Arial"/>
              </a:rPr>
              <a:t>TN</a:t>
            </a:r>
            <a:r>
              <a:rPr dirty="0" sz="800" spc="-10" i="1">
                <a:latin typeface="Verdana"/>
                <a:cs typeface="Verdana"/>
              </a:rPr>
              <a:t>−</a:t>
            </a:r>
            <a:r>
              <a:rPr dirty="0" sz="800" spc="-10" i="1">
                <a:latin typeface="Arial"/>
                <a:cs typeface="Arial"/>
              </a:rPr>
              <a:t>FP</a:t>
            </a:r>
            <a:r>
              <a:rPr dirty="0" sz="800" spc="-10" i="1">
                <a:latin typeface="Verdana"/>
                <a:cs typeface="Verdana"/>
              </a:rPr>
              <a:t>×</a:t>
            </a:r>
            <a:r>
              <a:rPr dirty="0" sz="800" spc="-10" i="1">
                <a:latin typeface="Arial"/>
                <a:cs typeface="Arial"/>
              </a:rPr>
              <a:t>FN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534782" y="556336"/>
            <a:ext cx="1968500" cy="0"/>
          </a:xfrm>
          <a:custGeom>
            <a:avLst/>
            <a:gdLst/>
            <a:ahLst/>
            <a:cxnLst/>
            <a:rect l="l" t="t" r="r" b="b"/>
            <a:pathLst>
              <a:path w="1968500" h="0">
                <a:moveTo>
                  <a:pt x="0" y="0"/>
                </a:moveTo>
                <a:lnTo>
                  <a:pt x="196823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60451" y="439723"/>
            <a:ext cx="12280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5895" indent="-137795">
              <a:lnSpc>
                <a:spcPct val="100000"/>
              </a:lnSpc>
              <a:spcBef>
                <a:spcPts val="90"/>
              </a:spcBef>
              <a:buClr>
                <a:srgbClr val="7E10FF"/>
              </a:buClr>
              <a:buFont typeface="Verdana"/>
              <a:buChar char="•"/>
              <a:tabLst>
                <a:tab pos="175895" algn="l"/>
              </a:tabLst>
            </a:pPr>
            <a:r>
              <a:rPr dirty="0" sz="1100">
                <a:latin typeface="Tahoma"/>
                <a:cs typeface="Tahoma"/>
              </a:rPr>
              <a:t>MCC: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50" i="1">
                <a:latin typeface="Trebuchet MS"/>
                <a:cs typeface="Trebuchet MS"/>
              </a:rPr>
              <a:t>MCC</a:t>
            </a:r>
            <a:r>
              <a:rPr dirty="0" sz="1100" spc="145" i="1">
                <a:latin typeface="Trebuchet MS"/>
                <a:cs typeface="Trebuchet MS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120">
                <a:latin typeface="Tahoma"/>
                <a:cs typeface="Tahoma"/>
              </a:rPr>
              <a:t> </a:t>
            </a:r>
            <a:r>
              <a:rPr dirty="0" baseline="5050" sz="1650" spc="-75" i="1">
                <a:latin typeface="Verdana"/>
                <a:cs typeface="Verdana"/>
              </a:rPr>
              <a:t>√</a:t>
            </a:r>
            <a:endParaRPr baseline="5050" sz="1650">
              <a:latin typeface="Verdana"/>
              <a:cs typeface="Verdan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650238" y="572960"/>
            <a:ext cx="1852930" cy="0"/>
          </a:xfrm>
          <a:custGeom>
            <a:avLst/>
            <a:gdLst/>
            <a:ahLst/>
            <a:cxnLst/>
            <a:rect l="l" t="t" r="r" b="b"/>
            <a:pathLst>
              <a:path w="1852929" h="0">
                <a:moveTo>
                  <a:pt x="0" y="0"/>
                </a:moveTo>
                <a:lnTo>
                  <a:pt x="185277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637538" y="556461"/>
            <a:ext cx="18783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Tahoma"/>
                <a:cs typeface="Tahoma"/>
              </a:rPr>
              <a:t>(</a:t>
            </a:r>
            <a:r>
              <a:rPr dirty="0" sz="800" spc="-10" i="1">
                <a:latin typeface="Arial"/>
                <a:cs typeface="Arial"/>
              </a:rPr>
              <a:t>TP</a:t>
            </a:r>
            <a:r>
              <a:rPr dirty="0" sz="800" spc="-10">
                <a:latin typeface="Tahoma"/>
                <a:cs typeface="Tahoma"/>
              </a:rPr>
              <a:t>+</a:t>
            </a:r>
            <a:r>
              <a:rPr dirty="0" sz="800" spc="-10" i="1">
                <a:latin typeface="Arial"/>
                <a:cs typeface="Arial"/>
              </a:rPr>
              <a:t>FP</a:t>
            </a:r>
            <a:r>
              <a:rPr dirty="0" sz="800" spc="-10">
                <a:latin typeface="Tahoma"/>
                <a:cs typeface="Tahoma"/>
              </a:rPr>
              <a:t>)(</a:t>
            </a:r>
            <a:r>
              <a:rPr dirty="0" sz="800" spc="-10" i="1">
                <a:latin typeface="Arial"/>
                <a:cs typeface="Arial"/>
              </a:rPr>
              <a:t>TP</a:t>
            </a:r>
            <a:r>
              <a:rPr dirty="0" sz="800" spc="-10">
                <a:latin typeface="Tahoma"/>
                <a:cs typeface="Tahoma"/>
              </a:rPr>
              <a:t>+</a:t>
            </a:r>
            <a:r>
              <a:rPr dirty="0" sz="800" spc="-10" i="1">
                <a:latin typeface="Arial"/>
                <a:cs typeface="Arial"/>
              </a:rPr>
              <a:t>FN</a:t>
            </a:r>
            <a:r>
              <a:rPr dirty="0" sz="800" spc="-10">
                <a:latin typeface="Tahoma"/>
                <a:cs typeface="Tahoma"/>
              </a:rPr>
              <a:t>)(</a:t>
            </a:r>
            <a:r>
              <a:rPr dirty="0" sz="800" spc="-10" i="1">
                <a:latin typeface="Arial"/>
                <a:cs typeface="Arial"/>
              </a:rPr>
              <a:t>TN</a:t>
            </a:r>
            <a:r>
              <a:rPr dirty="0" sz="800" spc="-10">
                <a:latin typeface="Tahoma"/>
                <a:cs typeface="Tahoma"/>
              </a:rPr>
              <a:t>+</a:t>
            </a:r>
            <a:r>
              <a:rPr dirty="0" sz="800" spc="-10" i="1">
                <a:latin typeface="Arial"/>
                <a:cs typeface="Arial"/>
              </a:rPr>
              <a:t>FP</a:t>
            </a:r>
            <a:r>
              <a:rPr dirty="0" sz="800" spc="-10">
                <a:latin typeface="Tahoma"/>
                <a:cs typeface="Tahoma"/>
              </a:rPr>
              <a:t>)(</a:t>
            </a:r>
            <a:r>
              <a:rPr dirty="0" sz="800" spc="-10" i="1">
                <a:latin typeface="Arial"/>
                <a:cs typeface="Arial"/>
              </a:rPr>
              <a:t>TN</a:t>
            </a:r>
            <a:r>
              <a:rPr dirty="0" sz="800" spc="-10">
                <a:latin typeface="Tahoma"/>
                <a:cs typeface="Tahoma"/>
              </a:rPr>
              <a:t>+</a:t>
            </a:r>
            <a:r>
              <a:rPr dirty="0" sz="800" spc="-10" i="1">
                <a:latin typeface="Arial"/>
                <a:cs typeface="Arial"/>
              </a:rPr>
              <a:t>FN</a:t>
            </a:r>
            <a:r>
              <a:rPr dirty="0" sz="800" spc="-1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24395" y="666354"/>
            <a:ext cx="35540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Tahoma"/>
                <a:cs typeface="Tahoma"/>
              </a:rPr>
              <a:t>Provides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balanced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evaluation </a:t>
            </a:r>
            <a:r>
              <a:rPr dirty="0" sz="1100" spc="-65">
                <a:latin typeface="Tahoma"/>
                <a:cs typeface="Tahoma"/>
              </a:rPr>
              <a:t>even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imbalanced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datasets.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114" y="1059282"/>
            <a:ext cx="3483797" cy="1917332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75"/>
              </a:lnSpc>
            </a:pPr>
            <a:fld id="{81D60167-4931-47E6-BA6A-407CBD079E47}" type="slidenum">
              <a:rPr dirty="0" spc="40"/>
              <a:t>10</a:t>
            </a:fld>
            <a:r>
              <a:rPr dirty="0" spc="40"/>
              <a:t>/18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Results</a:t>
            </a:r>
            <a:r>
              <a:rPr dirty="0"/>
              <a:t> and </a:t>
            </a:r>
            <a:r>
              <a:rPr dirty="0" spc="-55"/>
              <a:t>Analysis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75"/>
              </a:lnSpc>
            </a:pPr>
            <a:fld id="{81D60167-4931-47E6-BA6A-407CBD079E47}" type="slidenum">
              <a:rPr dirty="0" spc="40"/>
              <a:t>10</a:t>
            </a:fld>
            <a:r>
              <a:rPr dirty="0" spc="40"/>
              <a:t>/18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8851" y="429411"/>
            <a:ext cx="5060315" cy="256413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76860" marR="132080" indent="-137795">
              <a:lnSpc>
                <a:spcPct val="102600"/>
              </a:lnSpc>
              <a:spcBef>
                <a:spcPts val="55"/>
              </a:spcBef>
              <a:buClr>
                <a:srgbClr val="7E10FF"/>
              </a:buClr>
              <a:buFont typeface="Verdana"/>
              <a:buChar char="•"/>
              <a:tabLst>
                <a:tab pos="278130" algn="l"/>
              </a:tabLst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proposed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AVSEB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algorithm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was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evaluated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multiple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benchmark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functions </a:t>
            </a:r>
            <a:r>
              <a:rPr dirty="0" sz="1100" spc="-25">
                <a:latin typeface="Tahoma"/>
                <a:cs typeface="Tahoma"/>
              </a:rPr>
              <a:t>	</a:t>
            </a:r>
            <a:r>
              <a:rPr dirty="0" sz="1100">
                <a:latin typeface="Tahoma"/>
                <a:cs typeface="Tahoma"/>
              </a:rPr>
              <a:t>(F1–F8)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validate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convergence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speed,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stability,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global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optimization 	ability.</a:t>
            </a:r>
            <a:endParaRPr sz="1100">
              <a:latin typeface="Tahoma"/>
              <a:cs typeface="Tahoma"/>
            </a:endParaRPr>
          </a:p>
          <a:p>
            <a:pPr marL="276860" marR="271145" indent="-137795">
              <a:lnSpc>
                <a:spcPct val="102600"/>
              </a:lnSpc>
              <a:spcBef>
                <a:spcPts val="215"/>
              </a:spcBef>
              <a:buClr>
                <a:srgbClr val="7E10FF"/>
              </a:buClr>
              <a:buFont typeface="Verdana"/>
              <a:buChar char="•"/>
              <a:tabLst>
                <a:tab pos="278130" algn="l"/>
              </a:tabLst>
            </a:pPr>
            <a:r>
              <a:rPr dirty="0" sz="1100" spc="-30">
                <a:latin typeface="Tahoma"/>
                <a:cs typeface="Tahoma"/>
              </a:rPr>
              <a:t>Results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show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AVSEB </a:t>
            </a:r>
            <a:r>
              <a:rPr dirty="0" sz="1100" spc="-35">
                <a:latin typeface="Tahoma"/>
                <a:cs typeface="Tahoma"/>
              </a:rPr>
              <a:t>consistently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outperformed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traditional</a:t>
            </a:r>
            <a:r>
              <a:rPr dirty="0" sz="1100">
                <a:latin typeface="Tahoma"/>
                <a:cs typeface="Tahoma"/>
              </a:rPr>
              <a:t> SSA, </a:t>
            </a:r>
            <a:r>
              <a:rPr dirty="0" sz="1100" spc="-10">
                <a:latin typeface="Tahoma"/>
                <a:cs typeface="Tahoma"/>
              </a:rPr>
              <a:t>AVSSA, </a:t>
            </a:r>
            <a:r>
              <a:rPr dirty="0" sz="1100" spc="-10">
                <a:latin typeface="Tahoma"/>
                <a:cs typeface="Tahoma"/>
              </a:rPr>
              <a:t>	</a:t>
            </a:r>
            <a:r>
              <a:rPr dirty="0" sz="1100">
                <a:latin typeface="Tahoma"/>
                <a:cs typeface="Tahoma"/>
              </a:rPr>
              <a:t>SEB,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baseline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classifiers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across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most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benchmark</a:t>
            </a:r>
            <a:r>
              <a:rPr dirty="0" sz="1100" spc="-10">
                <a:latin typeface="Tahoma"/>
                <a:cs typeface="Tahoma"/>
              </a:rPr>
              <a:t> functions.</a:t>
            </a:r>
            <a:endParaRPr sz="1100">
              <a:latin typeface="Tahoma"/>
              <a:cs typeface="Tahoma"/>
            </a:endParaRPr>
          </a:p>
          <a:p>
            <a:pPr marL="276860" marR="156845" indent="-137795">
              <a:lnSpc>
                <a:spcPct val="102600"/>
              </a:lnSpc>
              <a:spcBef>
                <a:spcPts val="215"/>
              </a:spcBef>
              <a:buClr>
                <a:srgbClr val="7E10FF"/>
              </a:buClr>
              <a:buFont typeface="Verdana"/>
              <a:buChar char="•"/>
              <a:tabLst>
                <a:tab pos="278130" algn="l"/>
              </a:tabLst>
            </a:pPr>
            <a:r>
              <a:rPr dirty="0" sz="1100">
                <a:latin typeface="Tahoma"/>
                <a:cs typeface="Tahoma"/>
              </a:rPr>
              <a:t>On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software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defect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datasets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(NASA,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AEEEM,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MORPH,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JIRA),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AVSEB </a:t>
            </a:r>
            <a:r>
              <a:rPr dirty="0" sz="1100" spc="-10">
                <a:latin typeface="Tahoma"/>
                <a:cs typeface="Tahoma"/>
              </a:rPr>
              <a:t>	</a:t>
            </a:r>
            <a:r>
              <a:rPr dirty="0" sz="1100" spc="-55">
                <a:latin typeface="Tahoma"/>
                <a:cs typeface="Tahoma"/>
              </a:rPr>
              <a:t>achieved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higher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recall,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F-</a:t>
            </a:r>
            <a:r>
              <a:rPr dirty="0" sz="1100" spc="-45">
                <a:latin typeface="Tahoma"/>
                <a:cs typeface="Tahoma"/>
              </a:rPr>
              <a:t>measure,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G-</a:t>
            </a:r>
            <a:r>
              <a:rPr dirty="0" sz="1100" spc="-10">
                <a:latin typeface="Tahoma"/>
                <a:cs typeface="Tahoma"/>
              </a:rPr>
              <a:t>Mean,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>
                <a:latin typeface="Tahoma"/>
                <a:cs typeface="Tahoma"/>
              </a:rPr>
              <a:t> MCC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values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compared</a:t>
            </a:r>
            <a:r>
              <a:rPr dirty="0" sz="1100">
                <a:latin typeface="Tahoma"/>
                <a:cs typeface="Tahoma"/>
              </a:rPr>
              <a:t> to</a:t>
            </a:r>
            <a:r>
              <a:rPr dirty="0" sz="1100" spc="-10">
                <a:latin typeface="Tahoma"/>
                <a:cs typeface="Tahoma"/>
              </a:rPr>
              <a:t> other 	algorithms.</a:t>
            </a:r>
            <a:endParaRPr sz="1100">
              <a:latin typeface="Tahoma"/>
              <a:cs typeface="Tahoma"/>
            </a:endParaRPr>
          </a:p>
          <a:p>
            <a:pPr marL="276860" marR="212725" indent="-137795">
              <a:lnSpc>
                <a:spcPct val="102600"/>
              </a:lnSpc>
              <a:spcBef>
                <a:spcPts val="210"/>
              </a:spcBef>
              <a:buClr>
                <a:srgbClr val="7E10FF"/>
              </a:buClr>
              <a:buFont typeface="Verdana"/>
              <a:buChar char="•"/>
              <a:tabLst>
                <a:tab pos="278130" algn="l"/>
              </a:tabLst>
            </a:pPr>
            <a:r>
              <a:rPr dirty="0" sz="1100">
                <a:latin typeface="Tahoma"/>
                <a:cs typeface="Tahoma"/>
              </a:rPr>
              <a:t>Statistical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tests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(Wilcoxon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rank-</a:t>
            </a:r>
            <a:r>
              <a:rPr dirty="0" sz="1100" spc="-35">
                <a:latin typeface="Tahoma"/>
                <a:cs typeface="Tahoma"/>
              </a:rPr>
              <a:t>sum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Friedman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average</a:t>
            </a:r>
            <a:r>
              <a:rPr dirty="0" sz="1100" spc="-30">
                <a:latin typeface="Tahoma"/>
                <a:cs typeface="Tahoma"/>
              </a:rPr>
              <a:t> ranking) </a:t>
            </a:r>
            <a:r>
              <a:rPr dirty="0" sz="1100" spc="-35">
                <a:latin typeface="Tahoma"/>
                <a:cs typeface="Tahoma"/>
              </a:rPr>
              <a:t>confirmed </a:t>
            </a:r>
            <a:r>
              <a:rPr dirty="0" sz="1100" spc="-35">
                <a:latin typeface="Tahoma"/>
                <a:cs typeface="Tahoma"/>
              </a:rPr>
              <a:t>	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performance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improvements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AVSEB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statistically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significant.</a:t>
            </a:r>
            <a:endParaRPr sz="1100">
              <a:latin typeface="Tahoma"/>
              <a:cs typeface="Tahoma"/>
            </a:endParaRPr>
          </a:p>
          <a:p>
            <a:pPr marL="276860" marR="436245" indent="-137795">
              <a:lnSpc>
                <a:spcPct val="102600"/>
              </a:lnSpc>
              <a:spcBef>
                <a:spcPts val="215"/>
              </a:spcBef>
              <a:buClr>
                <a:srgbClr val="7E10FF"/>
              </a:buClr>
              <a:buFont typeface="Verdana"/>
              <a:buChar char="•"/>
              <a:tabLst>
                <a:tab pos="278130" algn="l"/>
              </a:tabLst>
            </a:pPr>
            <a:r>
              <a:rPr dirty="0" sz="1100" spc="-50">
                <a:latin typeface="Tahoma"/>
                <a:cs typeface="Tahoma"/>
              </a:rPr>
              <a:t>Convergence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graphs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indicate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AVSEB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avoids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premature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stagnation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and </a:t>
            </a:r>
            <a:r>
              <a:rPr dirty="0" sz="1100" spc="-25">
                <a:latin typeface="Tahoma"/>
                <a:cs typeface="Tahoma"/>
              </a:rPr>
              <a:t>	</a:t>
            </a:r>
            <a:r>
              <a:rPr dirty="0" sz="1100" spc="-60">
                <a:latin typeface="Tahoma"/>
                <a:cs typeface="Tahoma"/>
              </a:rPr>
              <a:t>achieves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faster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convergence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toward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optimal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solutions.</a:t>
            </a:r>
            <a:endParaRPr sz="1100">
              <a:latin typeface="Tahoma"/>
              <a:cs typeface="Tahoma"/>
            </a:endParaRPr>
          </a:p>
          <a:p>
            <a:pPr marL="276860" marR="278130" indent="-137795">
              <a:lnSpc>
                <a:spcPct val="102600"/>
              </a:lnSpc>
              <a:spcBef>
                <a:spcPts val="215"/>
              </a:spcBef>
              <a:buClr>
                <a:srgbClr val="7E10FF"/>
              </a:buClr>
              <a:buFont typeface="Verdana"/>
              <a:buChar char="•"/>
              <a:tabLst>
                <a:tab pos="278130" algn="l"/>
              </a:tabLst>
            </a:pPr>
            <a:r>
              <a:rPr dirty="0" sz="1100">
                <a:latin typeface="Tahoma"/>
                <a:cs typeface="Tahoma"/>
              </a:rPr>
              <a:t>3D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heatmap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visualizations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demonstrate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AVSEB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balances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exploration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and 	exploitation </a:t>
            </a:r>
            <a:r>
              <a:rPr dirty="0" sz="1100" spc="-60">
                <a:latin typeface="Tahoma"/>
                <a:cs typeface="Tahoma"/>
              </a:rPr>
              <a:t>more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effectively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than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competing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methods.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5"/>
              <a:t>Conclusion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75"/>
              </a:lnSpc>
            </a:pPr>
            <a:fld id="{81D60167-4931-47E6-BA6A-407CBD079E47}" type="slidenum">
              <a:rPr dirty="0" spc="40"/>
              <a:t>10</a:t>
            </a:fld>
            <a:r>
              <a:rPr dirty="0" spc="40"/>
              <a:t>/18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251" y="562316"/>
            <a:ext cx="5090795" cy="223647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1460" marR="106680" indent="-137795">
              <a:lnSpc>
                <a:spcPct val="102600"/>
              </a:lnSpc>
              <a:spcBef>
                <a:spcPts val="55"/>
              </a:spcBef>
              <a:buClr>
                <a:srgbClr val="7E10FF"/>
              </a:buClr>
              <a:buFont typeface="Verdana"/>
              <a:buChar char="•"/>
              <a:tabLst>
                <a:tab pos="252729" algn="l"/>
              </a:tabLst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proposed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AVSEB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algorithm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effectively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improves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software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defect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prediction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by </a:t>
            </a:r>
            <a:r>
              <a:rPr dirty="0" sz="1100" spc="-25">
                <a:latin typeface="Tahoma"/>
                <a:cs typeface="Tahoma"/>
              </a:rPr>
              <a:t>	</a:t>
            </a:r>
            <a:r>
              <a:rPr dirty="0" sz="1100" spc="-30">
                <a:latin typeface="Tahoma"/>
                <a:cs typeface="Tahoma"/>
              </a:rPr>
              <a:t>adaptively</a:t>
            </a:r>
            <a:r>
              <a:rPr dirty="0" sz="1100" spc="-35">
                <a:latin typeface="Tahoma"/>
                <a:cs typeface="Tahoma"/>
              </a:rPr>
              <a:t> balancing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exploration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exploitation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optimization.</a:t>
            </a:r>
            <a:endParaRPr sz="1100">
              <a:latin typeface="Tahoma"/>
              <a:cs typeface="Tahoma"/>
            </a:endParaRPr>
          </a:p>
          <a:p>
            <a:pPr marL="251460" marR="222250" indent="-137795">
              <a:lnSpc>
                <a:spcPct val="102600"/>
              </a:lnSpc>
              <a:spcBef>
                <a:spcPts val="300"/>
              </a:spcBef>
              <a:buClr>
                <a:srgbClr val="7E10FF"/>
              </a:buClr>
              <a:buFont typeface="Verdana"/>
              <a:buChar char="•"/>
              <a:tabLst>
                <a:tab pos="252729" algn="l"/>
              </a:tabLst>
            </a:pPr>
            <a:r>
              <a:rPr dirty="0" sz="1100" spc="-30">
                <a:latin typeface="Tahoma"/>
                <a:cs typeface="Tahoma"/>
              </a:rPr>
              <a:t>Experimental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results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benchmark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functions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real-</a:t>
            </a:r>
            <a:r>
              <a:rPr dirty="0" sz="1100" spc="-50">
                <a:latin typeface="Tahoma"/>
                <a:cs typeface="Tahoma"/>
              </a:rPr>
              <a:t>world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datasets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(NASA, </a:t>
            </a:r>
            <a:r>
              <a:rPr dirty="0" sz="1100" spc="-10">
                <a:latin typeface="Tahoma"/>
                <a:cs typeface="Tahoma"/>
              </a:rPr>
              <a:t>	</a:t>
            </a:r>
            <a:r>
              <a:rPr dirty="0" sz="1100">
                <a:latin typeface="Tahoma"/>
                <a:cs typeface="Tahoma"/>
              </a:rPr>
              <a:t>AEEEM,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MORPH,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JIRA)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demonstrate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superior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performance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over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SSA,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AVSSA, </a:t>
            </a:r>
            <a:r>
              <a:rPr dirty="0" sz="1100" spc="-10">
                <a:latin typeface="Tahoma"/>
                <a:cs typeface="Tahoma"/>
              </a:rPr>
              <a:t>	</a:t>
            </a:r>
            <a:r>
              <a:rPr dirty="0" sz="1100">
                <a:latin typeface="Tahoma"/>
                <a:cs typeface="Tahoma"/>
              </a:rPr>
              <a:t>SEB,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baseline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models.</a:t>
            </a:r>
            <a:endParaRPr sz="1100">
              <a:latin typeface="Tahoma"/>
              <a:cs typeface="Tahoma"/>
            </a:endParaRPr>
          </a:p>
          <a:p>
            <a:pPr marL="251460" marR="154305" indent="-137795">
              <a:lnSpc>
                <a:spcPct val="102699"/>
              </a:lnSpc>
              <a:spcBef>
                <a:spcPts val="300"/>
              </a:spcBef>
              <a:buClr>
                <a:srgbClr val="7E10FF"/>
              </a:buClr>
              <a:buFont typeface="Verdana"/>
              <a:buChar char="•"/>
              <a:tabLst>
                <a:tab pos="252729" algn="l"/>
              </a:tabLst>
            </a:pPr>
            <a:r>
              <a:rPr dirty="0" sz="1100">
                <a:latin typeface="Tahoma"/>
                <a:cs typeface="Tahoma"/>
              </a:rPr>
              <a:t>Statistical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validation </a:t>
            </a:r>
            <a:r>
              <a:rPr dirty="0" sz="1100" spc="-40">
                <a:latin typeface="Tahoma"/>
                <a:cs typeface="Tahoma"/>
              </a:rPr>
              <a:t>using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Wilcoxon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rank-</a:t>
            </a:r>
            <a:r>
              <a:rPr dirty="0" sz="1100" spc="-35">
                <a:latin typeface="Tahoma"/>
                <a:cs typeface="Tahoma"/>
              </a:rPr>
              <a:t>sum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Friedman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tests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confirmed</a:t>
            </a:r>
            <a:r>
              <a:rPr dirty="0" sz="1100" spc="-25">
                <a:latin typeface="Tahoma"/>
                <a:cs typeface="Tahoma"/>
              </a:rPr>
              <a:t> the </a:t>
            </a:r>
            <a:r>
              <a:rPr dirty="0" sz="1100" spc="-25">
                <a:latin typeface="Tahoma"/>
                <a:cs typeface="Tahoma"/>
              </a:rPr>
              <a:t>	</a:t>
            </a:r>
            <a:r>
              <a:rPr dirty="0" sz="1100" spc="-35">
                <a:latin typeface="Tahoma"/>
                <a:cs typeface="Tahoma"/>
              </a:rPr>
              <a:t>significance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robustness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AVSEB’s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improvements.</a:t>
            </a:r>
            <a:endParaRPr sz="1100">
              <a:latin typeface="Tahoma"/>
              <a:cs typeface="Tahoma"/>
            </a:endParaRPr>
          </a:p>
          <a:p>
            <a:pPr marL="251460" marR="147320" indent="-137795">
              <a:lnSpc>
                <a:spcPct val="102600"/>
              </a:lnSpc>
              <a:spcBef>
                <a:spcPts val="295"/>
              </a:spcBef>
              <a:buClr>
                <a:srgbClr val="7E10FF"/>
              </a:buClr>
              <a:buFont typeface="Verdana"/>
              <a:buChar char="•"/>
              <a:tabLst>
                <a:tab pos="252729" algn="l"/>
              </a:tabLst>
            </a:pPr>
            <a:r>
              <a:rPr dirty="0" sz="1100" spc="-50">
                <a:latin typeface="Tahoma"/>
                <a:cs typeface="Tahoma"/>
              </a:rPr>
              <a:t>Convergence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heatmap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visualizations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highlighted</a:t>
            </a:r>
            <a:r>
              <a:rPr dirty="0" sz="1100">
                <a:latin typeface="Tahoma"/>
                <a:cs typeface="Tahoma"/>
              </a:rPr>
              <a:t> AVSEB’s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capability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avoid </a:t>
            </a:r>
            <a:r>
              <a:rPr dirty="0" sz="1100" spc="-20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premature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convergence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maintain </a:t>
            </a:r>
            <a:r>
              <a:rPr dirty="0" sz="1100" spc="-30">
                <a:latin typeface="Tahoma"/>
                <a:cs typeface="Tahoma"/>
              </a:rPr>
              <a:t>strong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search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diversity.</a:t>
            </a:r>
            <a:endParaRPr sz="1100">
              <a:latin typeface="Tahoma"/>
              <a:cs typeface="Tahoma"/>
            </a:endParaRPr>
          </a:p>
          <a:p>
            <a:pPr algn="just" marL="251460" marR="292735" indent="-137795">
              <a:lnSpc>
                <a:spcPct val="102600"/>
              </a:lnSpc>
              <a:spcBef>
                <a:spcPts val="300"/>
              </a:spcBef>
              <a:buClr>
                <a:srgbClr val="7E10FF"/>
              </a:buClr>
              <a:buFont typeface="Verdana"/>
              <a:buChar char="•"/>
              <a:tabLst>
                <a:tab pos="252729" algn="l"/>
              </a:tabLst>
            </a:pPr>
            <a:r>
              <a:rPr dirty="0" sz="1100" spc="-20">
                <a:latin typeface="Tahoma"/>
                <a:cs typeface="Tahoma"/>
              </a:rPr>
              <a:t>Overall, </a:t>
            </a:r>
            <a:r>
              <a:rPr dirty="0" sz="1100">
                <a:latin typeface="Tahoma"/>
                <a:cs typeface="Tahoma"/>
              </a:rPr>
              <a:t>AVSEB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provides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reliable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efficient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approach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 </a:t>
            </a:r>
            <a:r>
              <a:rPr dirty="0" sz="1100" spc="-45">
                <a:latin typeface="Tahoma"/>
                <a:cs typeface="Tahoma"/>
              </a:rPr>
              <a:t>enhancing</a:t>
            </a:r>
            <a:r>
              <a:rPr dirty="0" sz="1100" spc="-20">
                <a:latin typeface="Tahoma"/>
                <a:cs typeface="Tahoma"/>
              </a:rPr>
              <a:t> defect </a:t>
            </a:r>
            <a:r>
              <a:rPr dirty="0" sz="1100" spc="-20">
                <a:latin typeface="Tahoma"/>
                <a:cs typeface="Tahoma"/>
              </a:rPr>
              <a:t>	</a:t>
            </a:r>
            <a:r>
              <a:rPr dirty="0" sz="1100" spc="-30">
                <a:latin typeface="Tahoma"/>
                <a:cs typeface="Tahoma"/>
              </a:rPr>
              <a:t>prediction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accuracy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can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extended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5">
                <a:latin typeface="Tahoma"/>
                <a:cs typeface="Tahoma"/>
              </a:rPr>
              <a:t> other </a:t>
            </a:r>
            <a:r>
              <a:rPr dirty="0" sz="1100" spc="-35">
                <a:latin typeface="Tahoma"/>
                <a:cs typeface="Tahoma"/>
              </a:rPr>
              <a:t>optimization-</a:t>
            </a:r>
            <a:r>
              <a:rPr dirty="0" sz="1100" spc="-60">
                <a:latin typeface="Tahoma"/>
                <a:cs typeface="Tahoma"/>
              </a:rPr>
              <a:t>based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software </a:t>
            </a:r>
            <a:r>
              <a:rPr dirty="0" sz="1100" spc="-35">
                <a:latin typeface="Tahoma"/>
                <a:cs typeface="Tahoma"/>
              </a:rPr>
              <a:t>	</a:t>
            </a:r>
            <a:r>
              <a:rPr dirty="0" sz="1100" spc="-50">
                <a:latin typeface="Tahoma"/>
                <a:cs typeface="Tahoma"/>
              </a:rPr>
              <a:t>engineering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tasks.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4577" y="1401316"/>
            <a:ext cx="1091565" cy="4032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45" b="0">
                <a:latin typeface="Tahoma"/>
                <a:cs typeface="Tahoma"/>
              </a:rPr>
              <a:t>The</a:t>
            </a:r>
            <a:r>
              <a:rPr dirty="0" sz="2450" spc="-145" b="0">
                <a:latin typeface="Tahoma"/>
                <a:cs typeface="Tahoma"/>
              </a:rPr>
              <a:t> </a:t>
            </a:r>
            <a:r>
              <a:rPr dirty="0" sz="2450" spc="-75" b="0">
                <a:latin typeface="Tahoma"/>
                <a:cs typeface="Tahoma"/>
              </a:rPr>
              <a:t>End</a:t>
            </a:r>
            <a:endParaRPr sz="245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Vanama Nikhith</dc:creator>
  <cp:keywords>Online Learning, Defect Prediction, Contrastive Learning, Incremental Learning, SMOTE</cp:keywords>
  <dc:subject>Software Defect Prediction, Online Learning, NLP</dc:subject>
  <dc:title>Enhanced Software Defect Prediction Using Ensemble Learning by Adaptive Variable Sparrow Search Algorithm</dc:title>
  <dcterms:created xsi:type="dcterms:W3CDTF">2025-09-02T08:30:34Z</dcterms:created>
  <dcterms:modified xsi:type="dcterms:W3CDTF">2025-09-02T08:30:34Z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2025-09-02T00:00:00Z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pdfTeX-1.40.26</vt:lpwstr>
  </property>
</Properties>
</file>